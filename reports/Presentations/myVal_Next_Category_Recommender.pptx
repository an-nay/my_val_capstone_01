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F6B66"/>
            </a:solidFill>
            <a:effectLst/>
          </c:spPr>
          <c:invertIfNegative val="0"/>
          <c:dLbls>
            <c:numFmt formatCode="0.0&quot;%&quot;" sourceLinked="0"/>
            <c:txPr>
              <a:bodyPr/>
              <a:lstStyle/>
              <a:p>
                <a:pPr>
                  <a:defRPr b="1" i="0" strike="noStrike" sz="1400" u="none">
                    <a:solidFill>
                      <a:srgbClr val="14232B"/>
                    </a:solidFill>
                    <a:latin typeface="Calibri"/>
                  </a:defRPr>
                </a:pPr>
              </a:p>
            </c:txPr>
            <c:showLegendKey val="0"/>
            <c:showVal val="1"/>
            <c:showCatName val="0"/>
            <c:showSerName val="0"/>
            <c:showPercent val="0"/>
            <c:showBubbleSize val="0"/>
            <c:showLeaderLines val="0"/>
          </c:dLbls>
          <c:dPt>
            <c:idx val="0"/>
            <c:invertIfNegative val="0"/>
            <c:bubble3D val="0"/>
            <c:spPr>
              <a:solidFill>
                <a:srgbClr val="0F6B66"/>
              </a:solidFill>
              <a:effectLst/>
            </c:spPr>
          </c:dPt>
          <c:dPt>
            <c:idx val="1"/>
            <c:invertIfNegative val="0"/>
            <c:bubble3D val="0"/>
            <c:spPr>
              <a:solidFill>
                <a:srgbClr val="0F6B66"/>
              </a:solidFill>
              <a:effectLst/>
            </c:spPr>
          </c:dPt>
          <c:dPt>
            <c:idx val="2"/>
            <c:invertIfNegative val="0"/>
            <c:bubble3D val="0"/>
            <c:spPr>
              <a:solidFill>
                <a:srgbClr val="E6A817"/>
              </a:solidFill>
              <a:effectLst/>
            </c:spPr>
          </c:dPt>
          <c:cat>
            <c:multiLvlStrRef>
              <c:f>Sheet1!$A$2:$A$4</c:f>
              <c:multiLvlStrCache>
                <c:ptCount val="3"/>
                <c:lvl>
                  <c:pt idx="0">
                    <c:v>Top-1</c:v>
                  </c:pt>
                  <c:pt idx="1">
                    <c:v>Top-2</c:v>
                  </c:pt>
                  <c:pt idx="2">
                    <c:v>Top-3</c:v>
                  </c:pt>
                </c:lvl>
              </c:multiLvlStrCache>
            </c:multiLvlStrRef>
          </c:cat>
          <c:val>
            <c:numRef>
              <c:f>Sheet1!$B$2:$B$4</c:f>
              <c:numCache>
                <c:formatCode>General</c:formatCode>
                <c:ptCount val="3"/>
                <c:pt idx="0">
                  <c:v>49.1</c:v>
                </c:pt>
                <c:pt idx="1">
                  <c:v>70.9</c:v>
                </c:pt>
                <c:pt idx="2">
                  <c:v>83.6</c:v>
                </c:pt>
              </c:numCache>
            </c:numRef>
          </c:val>
        </c:ser>
        <c:dLbls>
          <c:numFmt formatCode="0.0&quot;%&quot;" sourceLinked="0"/>
          <c:txPr>
            <a:bodyPr/>
            <a:lstStyle/>
            <a:p>
              <a:pPr>
                <a:defRPr b="1" i="0" strike="noStrike" sz="1400" u="none">
                  <a:solidFill>
                    <a:srgbClr val="14232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32B"/>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F1</c:v>
                </c:pt>
              </c:strCache>
            </c:strRef>
          </c:tx>
          <c:spPr>
            <a:solidFill>
              <a:srgbClr val="0F6B66"/>
            </a:solidFill>
            <a:effectLst/>
          </c:spPr>
          <c:invertIfNegative val="0"/>
          <c:dLbls>
            <c:numFmt formatCode="0.0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Electronics</c:v>
                  </c:pt>
                  <c:pt idx="1">
                    <c:v>Furniture</c:v>
                  </c:pt>
                  <c:pt idx="2">
                    <c:v>Other Items</c:v>
                  </c:pt>
                  <c:pt idx="3">
                    <c:v>Appliances</c:v>
                  </c:pt>
                  <c:pt idx="4">
                    <c:v>Clothings</c:v>
                  </c:pt>
                  <c:pt idx="5">
                    <c:v>Jewellery</c:v>
                  </c:pt>
                  <c:pt idx="6">
                    <c:v>Vehicles</c:v>
                  </c:pt>
                </c:lvl>
              </c:multiLvlStrCache>
            </c:multiLvlStrRef>
          </c:cat>
          <c:val>
            <c:numRef>
              <c:f>Sheet1!$B$2:$B$8</c:f>
              <c:numCache>
                <c:formatCode>General</c:formatCode>
                <c:ptCount val="7"/>
                <c:pt idx="0">
                  <c:v>0.77</c:v>
                </c:pt>
                <c:pt idx="1">
                  <c:v>0.58</c:v>
                </c:pt>
                <c:pt idx="2">
                  <c:v>0.4</c:v>
                </c:pt>
                <c:pt idx="3">
                  <c:v>0.35</c:v>
                </c:pt>
                <c:pt idx="4">
                  <c:v>0.25</c:v>
                </c:pt>
                <c:pt idx="5">
                  <c:v>0</c:v>
                </c:pt>
                <c:pt idx="6">
                  <c:v>0</c:v>
                </c:pt>
              </c:numCache>
            </c:numRef>
          </c:val>
        </c:ser>
        <c:dLbls>
          <c:numFmt formatCode="0.0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32B"/>
                </a:solidFill>
                <a:latin typeface="Calibri"/>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E6A817"/>
            </a:solidFill>
            <a:effectLst/>
          </c:spPr>
          <c:invertIfNegative val="0"/>
          <c:dLbls>
            <c:numFmt formatCode="0.00" sourceLinked="0"/>
            <c:txPr>
              <a:bodyPr/>
              <a:lstStyle/>
              <a:p>
                <a:pPr>
                  <a:defRPr b="0" i="0" strike="noStrike" sz="900" u="none">
                    <a:solidFill>
                      <a:srgbClr val="1423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Majority baseline</c:v>
                  </c:pt>
                  <c:pt idx="1">
                    <c:v>Logistic Regression</c:v>
                  </c:pt>
                  <c:pt idx="2">
                    <c:v>Random Forest</c:v>
                  </c:pt>
                  <c:pt idx="3">
                    <c:v>Regularised RF</c:v>
                  </c:pt>
                </c:lvl>
              </c:multiLvlStrCache>
            </c:multiLvlStrRef>
          </c:cat>
          <c:val>
            <c:numRef>
              <c:f>Sheet1!$B$2:$B$5</c:f>
              <c:numCache>
                <c:formatCode>General</c:formatCode>
                <c:ptCount val="4"/>
                <c:pt idx="0">
                  <c:v>0.224</c:v>
                </c:pt>
                <c:pt idx="1">
                  <c:v>0.358</c:v>
                </c:pt>
                <c:pt idx="2">
                  <c:v>0.478</c:v>
                </c:pt>
                <c:pt idx="3">
                  <c:v>0.433</c:v>
                </c:pt>
              </c:numCache>
            </c:numRef>
          </c:val>
        </c:ser>
        <c:ser>
          <c:idx val="1"/>
          <c:order val="1"/>
          <c:tx>
            <c:strRef>
              <c:f>Sheet1!$C$1</c:f>
              <c:strCache>
                <c:ptCount val="1"/>
                <c:pt idx="0">
                  <c:v>Macro F1</c:v>
                </c:pt>
              </c:strCache>
            </c:strRef>
          </c:tx>
          <c:spPr>
            <a:solidFill>
              <a:srgbClr val="0F6B66"/>
            </a:solidFill>
            <a:effectLst/>
          </c:spPr>
          <c:invertIfNegative val="0"/>
          <c:dLbls>
            <c:numFmt formatCode="0.00" sourceLinked="0"/>
            <c:txPr>
              <a:bodyPr/>
              <a:lstStyle/>
              <a:p>
                <a:pPr>
                  <a:defRPr b="0" i="0" strike="noStrike" sz="900" u="none">
                    <a:solidFill>
                      <a:srgbClr val="1423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Majority baseline</c:v>
                  </c:pt>
                  <c:pt idx="1">
                    <c:v>Logistic Regression</c:v>
                  </c:pt>
                  <c:pt idx="2">
                    <c:v>Random Forest</c:v>
                  </c:pt>
                  <c:pt idx="3">
                    <c:v>Regularised RF</c:v>
                  </c:pt>
                </c:lvl>
              </c:multiLvlStrCache>
            </c:multiLvlStrRef>
          </c:cat>
          <c:val>
            <c:numRef>
              <c:f>Sheet1!$C$2:$C$5</c:f>
              <c:numCache>
                <c:formatCode>General</c:formatCode>
                <c:ptCount val="4"/>
                <c:pt idx="0">
                  <c:v>0.061</c:v>
                </c:pt>
                <c:pt idx="1">
                  <c:v>0.335</c:v>
                </c:pt>
                <c:pt idx="2">
                  <c:v>0.421</c:v>
                </c:pt>
                <c:pt idx="3">
                  <c:v>0.368</c:v>
                </c:pt>
              </c:numCache>
            </c:numRef>
          </c:val>
        </c:ser>
        <c:dLbls>
          <c:numFmt formatCode="0.00" sourceLinked="0"/>
          <c:txPr>
            <a:bodyPr/>
            <a:lstStyle/>
            <a:p>
              <a:pPr>
                <a:defRPr b="0" i="0" strike="noStrike" sz="900" u="none">
                  <a:solidFill>
                    <a:srgbClr val="14232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32B"/>
                </a:solidFill>
                <a:latin typeface="Calibri"/>
              </a:defRPr>
            </a:pPr>
            <a:endParaRPr lang="en-US"/>
          </a:p>
        </c:txPr>
        <c:crossAx val="2094734552"/>
        <c:crosses val="autoZero"/>
        <c:auto val="1"/>
        <c:lblAlgn val="ctr"/>
        <c:noMultiLvlLbl val="1"/>
      </c:catAx>
      <c:valAx>
        <c:axId val="2094734552"/>
        <c:scaling>
          <c:orientation val="minMax"/>
          <c:max val="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4232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given the household state at a moment in time, predict the next category the customer documents for the first time. 440 of 795 properties in the workbook have only one category. The ai_analysis sheet has 24,634 rows because every analysed asset carries 3 ranked candidates (8,224 assets). Only the rank-1 candidate feeds the model. 431 prediction states remain from 234 properties after building first-time category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the next category first documented by the property. A target is kept only when the next event introduces exactly one new category, because the order inside a simultaneous multi-category event is unknown. States without AI output are dropped since the recommender runs after myVal AI analysis. Split: GroupShuffleSplit twice with seed 42 (70 percent train then 50/50 validation and test). 309 / 67 / 55 rows and 163 / 35 / 36 properties. Preprocessing is a sklearn ColumnTransformer: median imputation and standard scaling for numeric columns and most-frequent imputation with one-hot encoding for categorical columns. Class weights are balanced. Feature groups: 12 documented, 13 AI, 17 customer, 8 property, 5 video. Video is zero-filled when absent and only about 22 percent of states have 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notebook 01 inspects the workbook and checks keys. Notebook 02 builds time-filtered household states and first-time category targets and writes model_state.csv (431 rows by 60 columns). Notebook 03 trains a majority baseline, logistic regression, Random Forest and CatBoost with GroupKFold(5) on Property_ID and Macro F1 as the search metric. Two pipelines are kept: a default 500 tree Random Forest for the Top-1 pick and a regularised 800 tree Random Forest (min_samples_split 15) for ranking. Notebook 04 validates predict.py. server.py exposes predict_next_categories through FastAPI and derives the total counts from the per-category counts. The card in the last column is an illustrative layout and not real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holdout for the tuned regularised Random Forest: 55 rows from 36 unseen properties. Top-1 accuracy 49.1% (27 of 55), Top-2 70.9%, Top-3 83.6%. Macro F1 0.337 and weighted F1 0.431. The Top-1 figure was computed from the saved ranking model on the same split because the notebook only reported Top-2 and Top-3 for it. The default Random Forest scored 50.9% Top-1 and 0.322 Macro F1 on the same rows. Per-class Top-1 F1: Electronics 0.77, Furniture 0.58, Other Items 0.40, Appliances 0.35, Clothings 0.25, Jewellery and Personal Items 0, Vehicles 0. Tuning: RandomizedSearchCV with 40 candidates, GroupKFold(5) and Macro F1. Best CV Macro F1 0.4127 with 800 trees, min_samples_split 15, max_features sqrt and balanced_subsample weights. Selection used validation only. Top-1 model was chosen on validation Macro F1 (0.421 for the default Random Forest against 0.368 regularised) and the ranking model on Top-2 and Top-3 with a smaller generalisation gap. The AI ablation removes the 13 AI features from the regularised Random Forest: Macro F1 0.368 to 0.332 and accuracy 0.433 to 0.388. Top-2 is slightly higher without AI (0.731 against 0.716).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lift: majority baseline accuracy 0.224 and Macro F1 0.061 against logistic regression 0.358 / 0.335, Random Forest 0.478 / 0.421 and regularised Random Forest 0.433 / 0.368. AI ablation: removing the 13 AI features from the regularised Random Forest drops Macro F1 from 0.368 to 0.332 on validation. Electronics recall on the holdout is 1.00 (12 of 12). Top-1 on holdout is 27 of 55 so a normal-approximation 95 percent interval is roughly plus or minus 13 points. Vehicles has 11 target rows across the whole modelling dataset. Repeated grouped cross-validation and probability calibration are proposed next steps and are not implemented in the repository yet. If asked about overfitting: the default Random Forest scores 1.00 Macro F1 on training against 0.42 on validation and the regularised one 0.80 against 0.37, so all models fit the 309 training rows far better than unseen properties. The holdout numbers are the honest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2B"/>
        </a:solidFill>
      </p:bgPr>
    </p:bg>
    <p:spTree>
      <p:nvGrpSpPr>
        <p:cNvPr id="1" name=""/>
        <p:cNvGrpSpPr/>
        <p:nvPr/>
      </p:nvGrpSpPr>
      <p:grpSpPr>
        <a:xfrm>
          <a:off x="0" y="0"/>
          <a:ext cx="0" cy="0"/>
          <a:chOff x="0" y="0"/>
          <a:chExt cx="0" cy="0"/>
        </a:xfrm>
      </p:grpSpPr>
      <p:sp>
        <p:nvSpPr>
          <p:cNvPr id="2" name="Text 0"/>
          <p:cNvSpPr txBox="1"/>
          <p:nvPr/>
        </p:nvSpPr>
        <p:spPr>
          <a:xfrm>
            <a:off x="640080" y="640080"/>
            <a:ext cx="5486400" cy="365760"/>
          </a:xfrm>
          <a:prstGeom prst="rect">
            <a:avLst/>
          </a:prstGeom>
          <a:noFill/>
          <a:ln/>
        </p:spPr>
        <p:txBody>
          <a:bodyPr wrap="square" lIns="0" tIns="0" rIns="0" bIns="0" rtlCol="0" anchor="ctr"/>
          <a:lstStyle/>
          <a:p>
            <a:pPr indent="0" marL="0">
              <a:buNone/>
            </a:pPr>
            <a:r>
              <a:rPr lang="en-US" sz="1600" b="1" dirty="0">
                <a:solidFill>
                  <a:srgbClr val="E6A817"/>
                </a:solidFill>
                <a:latin typeface="Calibri" pitchFamily="34" charset="0"/>
                <a:ea typeface="Calibri" pitchFamily="34" charset="-122"/>
                <a:cs typeface="Calibri" pitchFamily="34" charset="-120"/>
              </a:rPr>
              <a:t>myVal Capstone Project</a:t>
            </a:r>
            <a:endParaRPr lang="en-US" sz="1600" dirty="0"/>
          </a:p>
        </p:txBody>
      </p:sp>
      <p:sp>
        <p:nvSpPr>
          <p:cNvPr id="3" name="Text 1"/>
          <p:cNvSpPr txBox="1"/>
          <p:nvPr/>
        </p:nvSpPr>
        <p:spPr>
          <a:xfrm>
            <a:off x="640080" y="1280160"/>
            <a:ext cx="5852160" cy="2194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Next-category recommendation for myVal households</a:t>
            </a:r>
            <a:endParaRPr lang="en-US" sz="4000" dirty="0"/>
          </a:p>
        </p:txBody>
      </p:sp>
      <p:sp>
        <p:nvSpPr>
          <p:cNvPr id="4" name="Text 2"/>
          <p:cNvSpPr txBox="1"/>
          <p:nvPr/>
        </p:nvSpPr>
        <p:spPr>
          <a:xfrm>
            <a:off x="640080" y="3749040"/>
            <a:ext cx="5394960" cy="1463040"/>
          </a:xfrm>
          <a:prstGeom prst="rect">
            <a:avLst/>
          </a:prstGeom>
          <a:noFill/>
          <a:ln/>
        </p:spPr>
        <p:txBody>
          <a:bodyPr wrap="square" lIns="0" tIns="0" rIns="0" bIns="0" rtlCol="0" anchor="t"/>
          <a:lstStyle/>
          <a:p>
            <a:pPr indent="0" marL="0">
              <a:buNone/>
            </a:pPr>
            <a:r>
              <a:rPr lang="en-US" sz="1800" dirty="0">
                <a:solidFill>
                  <a:srgbClr val="A9BDBB"/>
                </a:solidFill>
                <a:latin typeface="Calibri" pitchFamily="34" charset="0"/>
                <a:ea typeface="Calibri" pitchFamily="34" charset="-122"/>
                <a:cs typeface="Calibri" pitchFamily="34" charset="-120"/>
              </a:rPr>
              <a:t>Multiclass classification over 7 categories. Random Forest models scored on Top-1 to Top-3 accuracy with splits grouped by property to prevent leakage.</a:t>
            </a:r>
            <a:endParaRPr lang="en-US" sz="1800" dirty="0"/>
          </a:p>
        </p:txBody>
      </p:sp>
      <p:sp>
        <p:nvSpPr>
          <p:cNvPr id="5" name="Text 3"/>
          <p:cNvSpPr txBox="1"/>
          <p:nvPr/>
        </p:nvSpPr>
        <p:spPr>
          <a:xfrm>
            <a:off x="640080" y="6035040"/>
            <a:ext cx="5943600" cy="365760"/>
          </a:xfrm>
          <a:prstGeom prst="rect">
            <a:avLst/>
          </a:prstGeom>
          <a:noFill/>
          <a:ln/>
        </p:spPr>
        <p:txBody>
          <a:bodyPr wrap="square" lIns="0" tIns="0" rIns="0" bIns="0" rtlCol="0" anchor="ctr"/>
          <a:lstStyle/>
          <a:p>
            <a:pPr indent="0" marL="0">
              <a:buNone/>
            </a:pPr>
            <a:r>
              <a:rPr lang="en-US" sz="1400" dirty="0">
                <a:solidFill>
                  <a:srgbClr val="A9BDBB"/>
                </a:solidFill>
                <a:latin typeface="Calibri" pitchFamily="34" charset="0"/>
                <a:ea typeface="Calibri" pitchFamily="34" charset="-122"/>
                <a:cs typeface="Calibri" pitchFamily="34" charset="-120"/>
              </a:rPr>
              <a:t>Python  |  scikit-learn  |  CatBoost  |  FastAPI</a:t>
            </a:r>
            <a:endParaRPr lang="en-US" sz="1400" dirty="0"/>
          </a:p>
        </p:txBody>
      </p:sp>
      <p:sp>
        <p:nvSpPr>
          <p:cNvPr id="6" name="Shape 4"/>
          <p:cNvSpPr/>
          <p:nvPr/>
        </p:nvSpPr>
        <p:spPr>
          <a:xfrm>
            <a:off x="6949440" y="822960"/>
            <a:ext cx="2286000" cy="2468880"/>
          </a:xfrm>
          <a:prstGeom prst="roundRect">
            <a:avLst>
              <a:gd name="adj" fmla="val 6000"/>
            </a:avLst>
          </a:prstGeom>
          <a:solidFill>
            <a:srgbClr val="1E3540"/>
          </a:solidFill>
          <a:ln w="12700">
            <a:solidFill>
              <a:srgbClr val="2F4650"/>
            </a:solidFill>
            <a:prstDash val="solid"/>
          </a:ln>
        </p:spPr>
      </p:sp>
      <p:sp>
        <p:nvSpPr>
          <p:cNvPr id="7" name="Text 5"/>
          <p:cNvSpPr txBox="1"/>
          <p:nvPr/>
        </p:nvSpPr>
        <p:spPr>
          <a:xfrm>
            <a:off x="7178040" y="1097280"/>
            <a:ext cx="1828800" cy="822960"/>
          </a:xfrm>
          <a:prstGeom prst="rect">
            <a:avLst/>
          </a:prstGeom>
          <a:noFill/>
          <a:ln/>
        </p:spPr>
        <p:txBody>
          <a:bodyPr wrap="square" lIns="0" tIns="0" rIns="0" bIns="0" rtlCol="0" anchor="ctr"/>
          <a:lstStyle/>
          <a:p>
            <a:pPr indent="0" marL="0">
              <a:buNone/>
            </a:pPr>
            <a:r>
              <a:rPr lang="en-US" sz="4000" b="1" dirty="0">
                <a:solidFill>
                  <a:srgbClr val="E6A817"/>
                </a:solidFill>
                <a:latin typeface="Cambria" pitchFamily="34" charset="0"/>
                <a:ea typeface="Cambria" pitchFamily="34" charset="-122"/>
                <a:cs typeface="Cambria" pitchFamily="34" charset="-120"/>
              </a:rPr>
              <a:t>55%</a:t>
            </a:r>
            <a:endParaRPr lang="en-US" sz="4000" dirty="0"/>
          </a:p>
        </p:txBody>
      </p:sp>
      <p:sp>
        <p:nvSpPr>
          <p:cNvPr id="8" name="Text 6"/>
          <p:cNvSpPr txBox="1"/>
          <p:nvPr/>
        </p:nvSpPr>
        <p:spPr>
          <a:xfrm>
            <a:off x="7178040" y="2011680"/>
            <a:ext cx="182880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of properties document only one category</a:t>
            </a:r>
            <a:endParaRPr lang="en-US" sz="1400" dirty="0"/>
          </a:p>
        </p:txBody>
      </p:sp>
      <p:sp>
        <p:nvSpPr>
          <p:cNvPr id="9" name="Shape 7"/>
          <p:cNvSpPr/>
          <p:nvPr/>
        </p:nvSpPr>
        <p:spPr>
          <a:xfrm>
            <a:off x="9418320" y="822960"/>
            <a:ext cx="2286000" cy="2468880"/>
          </a:xfrm>
          <a:prstGeom prst="roundRect">
            <a:avLst>
              <a:gd name="adj" fmla="val 6000"/>
            </a:avLst>
          </a:prstGeom>
          <a:solidFill>
            <a:srgbClr val="1E3540"/>
          </a:solidFill>
          <a:ln w="12700">
            <a:solidFill>
              <a:srgbClr val="2F4650"/>
            </a:solidFill>
            <a:prstDash val="solid"/>
          </a:ln>
        </p:spPr>
      </p:sp>
      <p:sp>
        <p:nvSpPr>
          <p:cNvPr id="10" name="Text 8"/>
          <p:cNvSpPr txBox="1"/>
          <p:nvPr/>
        </p:nvSpPr>
        <p:spPr>
          <a:xfrm>
            <a:off x="9646920" y="1097280"/>
            <a:ext cx="1828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8,309</a:t>
            </a:r>
            <a:endParaRPr lang="en-US" sz="4000" dirty="0"/>
          </a:p>
        </p:txBody>
      </p:sp>
      <p:sp>
        <p:nvSpPr>
          <p:cNvPr id="11" name="Text 9"/>
          <p:cNvSpPr txBox="1"/>
          <p:nvPr/>
        </p:nvSpPr>
        <p:spPr>
          <a:xfrm>
            <a:off x="9646920" y="2011680"/>
            <a:ext cx="182880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assets across 795 properties in the source workbook</a:t>
            </a:r>
            <a:endParaRPr lang="en-US" sz="1400" dirty="0"/>
          </a:p>
        </p:txBody>
      </p:sp>
      <p:sp>
        <p:nvSpPr>
          <p:cNvPr id="12" name="Shape 10"/>
          <p:cNvSpPr/>
          <p:nvPr/>
        </p:nvSpPr>
        <p:spPr>
          <a:xfrm>
            <a:off x="6949440" y="3566160"/>
            <a:ext cx="2286000" cy="2468880"/>
          </a:xfrm>
          <a:prstGeom prst="roundRect">
            <a:avLst>
              <a:gd name="adj" fmla="val 6000"/>
            </a:avLst>
          </a:prstGeom>
          <a:solidFill>
            <a:srgbClr val="1E3540"/>
          </a:solidFill>
          <a:ln w="12700">
            <a:solidFill>
              <a:srgbClr val="2F4650"/>
            </a:solidFill>
            <a:prstDash val="solid"/>
          </a:ln>
        </p:spPr>
      </p:sp>
      <p:sp>
        <p:nvSpPr>
          <p:cNvPr id="13" name="Text 11"/>
          <p:cNvSpPr txBox="1"/>
          <p:nvPr/>
        </p:nvSpPr>
        <p:spPr>
          <a:xfrm>
            <a:off x="7178040" y="3840480"/>
            <a:ext cx="1828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24,634</a:t>
            </a:r>
            <a:endParaRPr lang="en-US" sz="4000" dirty="0"/>
          </a:p>
        </p:txBody>
      </p:sp>
      <p:sp>
        <p:nvSpPr>
          <p:cNvPr id="14" name="Text 12"/>
          <p:cNvSpPr txBox="1"/>
          <p:nvPr/>
        </p:nvSpPr>
        <p:spPr>
          <a:xfrm>
            <a:off x="7178040" y="4754880"/>
            <a:ext cx="182880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AI candidate rows: 3 ranked candidates for each of 8,224 assets</a:t>
            </a:r>
            <a:endParaRPr lang="en-US" sz="1400" dirty="0"/>
          </a:p>
        </p:txBody>
      </p:sp>
      <p:sp>
        <p:nvSpPr>
          <p:cNvPr id="15" name="Shape 13"/>
          <p:cNvSpPr/>
          <p:nvPr/>
        </p:nvSpPr>
        <p:spPr>
          <a:xfrm>
            <a:off x="9418320" y="3566160"/>
            <a:ext cx="2286000" cy="2468880"/>
          </a:xfrm>
          <a:prstGeom prst="roundRect">
            <a:avLst>
              <a:gd name="adj" fmla="val 6000"/>
            </a:avLst>
          </a:prstGeom>
          <a:solidFill>
            <a:srgbClr val="1E3540"/>
          </a:solidFill>
          <a:ln w="12700">
            <a:solidFill>
              <a:srgbClr val="2F4650"/>
            </a:solidFill>
            <a:prstDash val="solid"/>
          </a:ln>
        </p:spPr>
      </p:sp>
      <p:sp>
        <p:nvSpPr>
          <p:cNvPr id="16" name="Text 14"/>
          <p:cNvSpPr txBox="1"/>
          <p:nvPr/>
        </p:nvSpPr>
        <p:spPr>
          <a:xfrm>
            <a:off x="9646920" y="3840480"/>
            <a:ext cx="1828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55</a:t>
            </a:r>
            <a:endParaRPr lang="en-US" sz="4000" dirty="0"/>
          </a:p>
        </p:txBody>
      </p:sp>
      <p:sp>
        <p:nvSpPr>
          <p:cNvPr id="17" name="Text 15"/>
          <p:cNvSpPr txBox="1"/>
          <p:nvPr/>
        </p:nvSpPr>
        <p:spPr>
          <a:xfrm>
            <a:off x="9646920" y="4754880"/>
            <a:ext cx="182880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predictors from documented assets, myVal AI, customer, property and video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0"/>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4232B"/>
                </a:solidFill>
                <a:latin typeface="Cambria" pitchFamily="34" charset="0"/>
                <a:ea typeface="Cambria" pitchFamily="34" charset="-122"/>
                <a:cs typeface="Cambria" pitchFamily="34" charset="-120"/>
              </a:rPr>
              <a:t>Problem formulation with leakage controls</a:t>
            </a:r>
            <a:endParaRPr lang="en-US" sz="3200" dirty="0"/>
          </a:p>
        </p:txBody>
      </p:sp>
      <p:sp>
        <p:nvSpPr>
          <p:cNvPr id="3" name="Shape 1"/>
          <p:cNvSpPr/>
          <p:nvPr/>
        </p:nvSpPr>
        <p:spPr>
          <a:xfrm>
            <a:off x="548640" y="1463040"/>
            <a:ext cx="2651760" cy="2212848"/>
          </a:xfrm>
          <a:prstGeom prst="roundRect">
            <a:avLst>
              <a:gd name="adj" fmla="val 6198"/>
            </a:avLst>
          </a:prstGeom>
          <a:solidFill>
            <a:srgbClr val="FFFFFF"/>
          </a:solidFill>
          <a:ln w="12700">
            <a:solidFill>
              <a:srgbClr val="D9DFDA"/>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822960" y="1737360"/>
            <a:ext cx="310896" cy="310896"/>
          </a:xfrm>
          <a:prstGeom prst="ellipse">
            <a:avLst/>
          </a:prstGeom>
          <a:solidFill>
            <a:srgbClr val="0F6B66"/>
          </a:solidFill>
          <a:ln w="12700">
            <a:solidFill>
              <a:srgbClr val="0F6B66"/>
            </a:solidFill>
            <a:prstDash val="solid"/>
          </a:ln>
        </p:spPr>
      </p:sp>
      <p:sp>
        <p:nvSpPr>
          <p:cNvPr id="5" name="Text 3"/>
          <p:cNvSpPr txBox="1"/>
          <p:nvPr/>
        </p:nvSpPr>
        <p:spPr>
          <a:xfrm>
            <a:off x="822960" y="17373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261872" y="1719072"/>
            <a:ext cx="1874520" cy="347472"/>
          </a:xfrm>
          <a:prstGeom prst="rect">
            <a:avLst/>
          </a:prstGeom>
          <a:noFill/>
          <a:ln/>
        </p:spPr>
        <p:txBody>
          <a:bodyPr wrap="square" lIns="0" tIns="0" rIns="0" bIns="0" rtlCol="0" anchor="ctr"/>
          <a:lstStyle/>
          <a:p>
            <a:pPr indent="0" marL="0">
              <a:buNone/>
            </a:pPr>
            <a:r>
              <a:rPr lang="en-US" sz="1400" b="1" dirty="0">
                <a:solidFill>
                  <a:srgbClr val="14232B"/>
                </a:solidFill>
                <a:latin typeface="Cambria" pitchFamily="34" charset="0"/>
                <a:ea typeface="Cambria" pitchFamily="34" charset="-122"/>
                <a:cs typeface="Cambria" pitchFamily="34" charset="-120"/>
              </a:rPr>
              <a:t>Time-aware state</a:t>
            </a:r>
            <a:endParaRPr lang="en-US" sz="1400" dirty="0"/>
          </a:p>
        </p:txBody>
      </p:sp>
      <p:sp>
        <p:nvSpPr>
          <p:cNvPr id="7" name="Text 5"/>
          <p:cNvSpPr txBox="1"/>
          <p:nvPr/>
        </p:nvSpPr>
        <p:spPr>
          <a:xfrm>
            <a:off x="822960" y="2240280"/>
            <a:ext cx="2148840" cy="132588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One row per first-time category event. Features use only assets and AI outputs created at or before that timestamp.</a:t>
            </a:r>
            <a:endParaRPr lang="en-US" sz="1200" dirty="0"/>
          </a:p>
        </p:txBody>
      </p:sp>
      <p:sp>
        <p:nvSpPr>
          <p:cNvPr id="8" name="Shape 6"/>
          <p:cNvSpPr/>
          <p:nvPr/>
        </p:nvSpPr>
        <p:spPr>
          <a:xfrm>
            <a:off x="3429000" y="1463040"/>
            <a:ext cx="2651760" cy="2212848"/>
          </a:xfrm>
          <a:prstGeom prst="roundRect">
            <a:avLst>
              <a:gd name="adj" fmla="val 6198"/>
            </a:avLst>
          </a:prstGeom>
          <a:solidFill>
            <a:srgbClr val="FFFFFF"/>
          </a:solidFill>
          <a:ln w="12700">
            <a:solidFill>
              <a:srgbClr val="D9DFDA"/>
            </a:solidFill>
            <a:prstDash val="solid"/>
          </a:ln>
          <a:effectLst>
            <a:outerShdw sx="100000" sy="100000" kx="0" ky="0" algn="bl" rotWithShape="0" blurRad="101600" dist="25400" dir="5400000">
              <a:srgbClr val="000000">
                <a:alpha val="12000"/>
              </a:srgbClr>
            </a:outerShdw>
          </a:effectLst>
        </p:spPr>
      </p:sp>
      <p:sp>
        <p:nvSpPr>
          <p:cNvPr id="9" name="Shape 7"/>
          <p:cNvSpPr/>
          <p:nvPr/>
        </p:nvSpPr>
        <p:spPr>
          <a:xfrm>
            <a:off x="3703320" y="1737360"/>
            <a:ext cx="310896" cy="310896"/>
          </a:xfrm>
          <a:prstGeom prst="ellipse">
            <a:avLst/>
          </a:prstGeom>
          <a:solidFill>
            <a:srgbClr val="0F6B66"/>
          </a:solidFill>
          <a:ln w="12700">
            <a:solidFill>
              <a:srgbClr val="0F6B66"/>
            </a:solidFill>
            <a:prstDash val="solid"/>
          </a:ln>
        </p:spPr>
      </p:sp>
      <p:sp>
        <p:nvSpPr>
          <p:cNvPr id="10" name="Text 8"/>
          <p:cNvSpPr txBox="1"/>
          <p:nvPr/>
        </p:nvSpPr>
        <p:spPr>
          <a:xfrm>
            <a:off x="3703320" y="17373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4142232" y="1719072"/>
            <a:ext cx="1874520" cy="347472"/>
          </a:xfrm>
          <a:prstGeom prst="rect">
            <a:avLst/>
          </a:prstGeom>
          <a:noFill/>
          <a:ln/>
        </p:spPr>
        <p:txBody>
          <a:bodyPr wrap="square" lIns="0" tIns="0" rIns="0" bIns="0" rtlCol="0" anchor="ctr"/>
          <a:lstStyle/>
          <a:p>
            <a:pPr indent="0" marL="0">
              <a:buNone/>
            </a:pPr>
            <a:r>
              <a:rPr lang="en-US" sz="1400" b="1" dirty="0">
                <a:solidFill>
                  <a:srgbClr val="14232B"/>
                </a:solidFill>
                <a:latin typeface="Cambria" pitchFamily="34" charset="0"/>
                <a:ea typeface="Cambria" pitchFamily="34" charset="-122"/>
                <a:cs typeface="Cambria" pitchFamily="34" charset="-120"/>
              </a:rPr>
              <a:t>Target definition</a:t>
            </a:r>
            <a:endParaRPr lang="en-US" sz="1400" dirty="0"/>
          </a:p>
        </p:txBody>
      </p:sp>
      <p:sp>
        <p:nvSpPr>
          <p:cNvPr id="12" name="Text 10"/>
          <p:cNvSpPr txBox="1"/>
          <p:nvPr/>
        </p:nvSpPr>
        <p:spPr>
          <a:xfrm>
            <a:off x="3703320" y="2240280"/>
            <a:ext cx="2148840" cy="132588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Next category documented for the first time. Kept only when exactly one new category appears. Simultaneous events are excluded.</a:t>
            </a:r>
            <a:endParaRPr lang="en-US" sz="1200" dirty="0"/>
          </a:p>
        </p:txBody>
      </p:sp>
      <p:sp>
        <p:nvSpPr>
          <p:cNvPr id="13" name="Shape 11"/>
          <p:cNvSpPr/>
          <p:nvPr/>
        </p:nvSpPr>
        <p:spPr>
          <a:xfrm>
            <a:off x="6309360" y="1463040"/>
            <a:ext cx="2651760" cy="2212848"/>
          </a:xfrm>
          <a:prstGeom prst="roundRect">
            <a:avLst>
              <a:gd name="adj" fmla="val 6198"/>
            </a:avLst>
          </a:prstGeom>
          <a:solidFill>
            <a:srgbClr val="FFFFFF"/>
          </a:solidFill>
          <a:ln w="12700">
            <a:solidFill>
              <a:srgbClr val="D9DFDA"/>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6583680" y="1737360"/>
            <a:ext cx="310896" cy="310896"/>
          </a:xfrm>
          <a:prstGeom prst="ellipse">
            <a:avLst/>
          </a:prstGeom>
          <a:solidFill>
            <a:srgbClr val="0F6B66"/>
          </a:solidFill>
          <a:ln w="12700">
            <a:solidFill>
              <a:srgbClr val="0F6B66"/>
            </a:solidFill>
            <a:prstDash val="solid"/>
          </a:ln>
        </p:spPr>
      </p:sp>
      <p:sp>
        <p:nvSpPr>
          <p:cNvPr id="15" name="Text 13"/>
          <p:cNvSpPr txBox="1"/>
          <p:nvPr/>
        </p:nvSpPr>
        <p:spPr>
          <a:xfrm>
            <a:off x="6583680" y="17373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7022592" y="1719072"/>
            <a:ext cx="1874520" cy="347472"/>
          </a:xfrm>
          <a:prstGeom prst="rect">
            <a:avLst/>
          </a:prstGeom>
          <a:noFill/>
          <a:ln/>
        </p:spPr>
        <p:txBody>
          <a:bodyPr wrap="square" lIns="0" tIns="0" rIns="0" bIns="0" rtlCol="0" anchor="ctr"/>
          <a:lstStyle/>
          <a:p>
            <a:pPr indent="0" marL="0">
              <a:buNone/>
            </a:pPr>
            <a:r>
              <a:rPr lang="en-US" sz="1400" b="1" dirty="0">
                <a:solidFill>
                  <a:srgbClr val="14232B"/>
                </a:solidFill>
                <a:latin typeface="Cambria" pitchFamily="34" charset="0"/>
                <a:ea typeface="Cambria" pitchFamily="34" charset="-122"/>
                <a:cs typeface="Cambria" pitchFamily="34" charset="-120"/>
              </a:rPr>
              <a:t>Leakage control</a:t>
            </a:r>
            <a:endParaRPr lang="en-US" sz="1400" dirty="0"/>
          </a:p>
        </p:txBody>
      </p:sp>
      <p:sp>
        <p:nvSpPr>
          <p:cNvPr id="17" name="Text 15"/>
          <p:cNvSpPr txBox="1"/>
          <p:nvPr/>
        </p:nvSpPr>
        <p:spPr>
          <a:xfrm>
            <a:off x="6583680" y="2240280"/>
            <a:ext cx="2148840" cy="132588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Split by Property_ID at 70/15/15 with zero property overlap. Imputers and encoders fit on train only. Identifiers are excluded from predictors.</a:t>
            </a:r>
            <a:endParaRPr lang="en-US" sz="1200" dirty="0"/>
          </a:p>
        </p:txBody>
      </p:sp>
      <p:sp>
        <p:nvSpPr>
          <p:cNvPr id="18" name="Shape 16"/>
          <p:cNvSpPr/>
          <p:nvPr/>
        </p:nvSpPr>
        <p:spPr>
          <a:xfrm>
            <a:off x="9189720" y="1463040"/>
            <a:ext cx="2423160" cy="2212848"/>
          </a:xfrm>
          <a:prstGeom prst="roundRect">
            <a:avLst>
              <a:gd name="adj" fmla="val 6198"/>
            </a:avLst>
          </a:prstGeom>
          <a:solidFill>
            <a:srgbClr val="14232B"/>
          </a:solidFill>
          <a:ln w="12700">
            <a:solidFill>
              <a:srgbClr val="14232B"/>
            </a:solidFill>
            <a:prstDash val="solid"/>
          </a:ln>
        </p:spPr>
      </p:sp>
      <p:sp>
        <p:nvSpPr>
          <p:cNvPr id="19" name="Text 17"/>
          <p:cNvSpPr txBox="1"/>
          <p:nvPr/>
        </p:nvSpPr>
        <p:spPr>
          <a:xfrm>
            <a:off x="9372600" y="1645920"/>
            <a:ext cx="2103120" cy="320040"/>
          </a:xfrm>
          <a:prstGeom prst="rect">
            <a:avLst/>
          </a:prstGeom>
          <a:noFill/>
          <a:ln/>
        </p:spPr>
        <p:txBody>
          <a:bodyPr wrap="square" lIns="0" tIns="0" rIns="0" bIns="0" rtlCol="0" anchor="ctr"/>
          <a:lstStyle/>
          <a:p>
            <a:pPr indent="0" marL="0">
              <a:buNone/>
            </a:pPr>
            <a:r>
              <a:rPr lang="en-US" sz="1400" b="1" dirty="0">
                <a:solidFill>
                  <a:srgbClr val="E6A817"/>
                </a:solidFill>
                <a:latin typeface="Cambria" pitchFamily="34" charset="0"/>
                <a:ea typeface="Cambria" pitchFamily="34" charset="-122"/>
                <a:cs typeface="Cambria" pitchFamily="34" charset="-120"/>
              </a:rPr>
              <a:t>Target class share</a:t>
            </a:r>
            <a:endParaRPr lang="en-US" sz="1400" dirty="0"/>
          </a:p>
        </p:txBody>
      </p:sp>
      <p:sp>
        <p:nvSpPr>
          <p:cNvPr id="20" name="Text 18"/>
          <p:cNvSpPr txBox="1"/>
          <p:nvPr/>
        </p:nvSpPr>
        <p:spPr>
          <a:xfrm>
            <a:off x="9372600" y="2029968"/>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Other Items</a:t>
            </a:r>
            <a:endParaRPr lang="en-US" sz="1000" dirty="0"/>
          </a:p>
        </p:txBody>
      </p:sp>
      <p:sp>
        <p:nvSpPr>
          <p:cNvPr id="21" name="Text 19"/>
          <p:cNvSpPr txBox="1"/>
          <p:nvPr/>
        </p:nvSpPr>
        <p:spPr>
          <a:xfrm>
            <a:off x="11064240" y="2029968"/>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21%</a:t>
            </a:r>
            <a:endParaRPr lang="en-US" sz="1000" dirty="0"/>
          </a:p>
        </p:txBody>
      </p:sp>
      <p:sp>
        <p:nvSpPr>
          <p:cNvPr id="22" name="Text 20"/>
          <p:cNvSpPr txBox="1"/>
          <p:nvPr/>
        </p:nvSpPr>
        <p:spPr>
          <a:xfrm>
            <a:off x="9372600" y="2253996"/>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Furniture</a:t>
            </a:r>
            <a:endParaRPr lang="en-US" sz="1000" dirty="0"/>
          </a:p>
        </p:txBody>
      </p:sp>
      <p:sp>
        <p:nvSpPr>
          <p:cNvPr id="23" name="Text 21"/>
          <p:cNvSpPr txBox="1"/>
          <p:nvPr/>
        </p:nvSpPr>
        <p:spPr>
          <a:xfrm>
            <a:off x="11064240" y="2253996"/>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20%</a:t>
            </a:r>
            <a:endParaRPr lang="en-US" sz="1000" dirty="0"/>
          </a:p>
        </p:txBody>
      </p:sp>
      <p:sp>
        <p:nvSpPr>
          <p:cNvPr id="24" name="Text 22"/>
          <p:cNvSpPr txBox="1"/>
          <p:nvPr/>
        </p:nvSpPr>
        <p:spPr>
          <a:xfrm>
            <a:off x="9372600" y="2478024"/>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Appliances</a:t>
            </a:r>
            <a:endParaRPr lang="en-US" sz="1000" dirty="0"/>
          </a:p>
        </p:txBody>
      </p:sp>
      <p:sp>
        <p:nvSpPr>
          <p:cNvPr id="25" name="Text 23"/>
          <p:cNvSpPr txBox="1"/>
          <p:nvPr/>
        </p:nvSpPr>
        <p:spPr>
          <a:xfrm>
            <a:off x="11064240" y="2478024"/>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18%</a:t>
            </a:r>
            <a:endParaRPr lang="en-US" sz="1000" dirty="0"/>
          </a:p>
        </p:txBody>
      </p:sp>
      <p:sp>
        <p:nvSpPr>
          <p:cNvPr id="26" name="Text 24"/>
          <p:cNvSpPr txBox="1"/>
          <p:nvPr/>
        </p:nvSpPr>
        <p:spPr>
          <a:xfrm>
            <a:off x="9372600" y="2702052"/>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Electronics</a:t>
            </a:r>
            <a:endParaRPr lang="en-US" sz="1000" dirty="0"/>
          </a:p>
        </p:txBody>
      </p:sp>
      <p:sp>
        <p:nvSpPr>
          <p:cNvPr id="27" name="Text 25"/>
          <p:cNvSpPr txBox="1"/>
          <p:nvPr/>
        </p:nvSpPr>
        <p:spPr>
          <a:xfrm>
            <a:off x="11064240" y="2702052"/>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17%</a:t>
            </a:r>
            <a:endParaRPr lang="en-US" sz="1000" dirty="0"/>
          </a:p>
        </p:txBody>
      </p:sp>
      <p:sp>
        <p:nvSpPr>
          <p:cNvPr id="28" name="Text 26"/>
          <p:cNvSpPr txBox="1"/>
          <p:nvPr/>
        </p:nvSpPr>
        <p:spPr>
          <a:xfrm>
            <a:off x="9372600" y="2926080"/>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Jewellery and Personal Items</a:t>
            </a:r>
            <a:endParaRPr lang="en-US" sz="1000" dirty="0"/>
          </a:p>
        </p:txBody>
      </p:sp>
      <p:sp>
        <p:nvSpPr>
          <p:cNvPr id="29" name="Text 27"/>
          <p:cNvSpPr txBox="1"/>
          <p:nvPr/>
        </p:nvSpPr>
        <p:spPr>
          <a:xfrm>
            <a:off x="11064240" y="2926080"/>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14%</a:t>
            </a:r>
            <a:endParaRPr lang="en-US" sz="1000" dirty="0"/>
          </a:p>
        </p:txBody>
      </p:sp>
      <p:sp>
        <p:nvSpPr>
          <p:cNvPr id="30" name="Text 28"/>
          <p:cNvSpPr txBox="1"/>
          <p:nvPr/>
        </p:nvSpPr>
        <p:spPr>
          <a:xfrm>
            <a:off x="9372600" y="3150108"/>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Clothings</a:t>
            </a:r>
            <a:endParaRPr lang="en-US" sz="1000" dirty="0"/>
          </a:p>
        </p:txBody>
      </p:sp>
      <p:sp>
        <p:nvSpPr>
          <p:cNvPr id="31" name="Text 29"/>
          <p:cNvSpPr txBox="1"/>
          <p:nvPr/>
        </p:nvSpPr>
        <p:spPr>
          <a:xfrm>
            <a:off x="11064240" y="3150108"/>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8%</a:t>
            </a:r>
            <a:endParaRPr lang="en-US" sz="1000" dirty="0"/>
          </a:p>
        </p:txBody>
      </p:sp>
      <p:sp>
        <p:nvSpPr>
          <p:cNvPr id="32" name="Text 30"/>
          <p:cNvSpPr txBox="1"/>
          <p:nvPr/>
        </p:nvSpPr>
        <p:spPr>
          <a:xfrm>
            <a:off x="9372600" y="3374136"/>
            <a:ext cx="178308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Vehicles</a:t>
            </a:r>
            <a:endParaRPr lang="en-US" sz="1000" dirty="0"/>
          </a:p>
        </p:txBody>
      </p:sp>
      <p:sp>
        <p:nvSpPr>
          <p:cNvPr id="33" name="Text 31"/>
          <p:cNvSpPr txBox="1"/>
          <p:nvPr/>
        </p:nvSpPr>
        <p:spPr>
          <a:xfrm>
            <a:off x="11064240" y="3374136"/>
            <a:ext cx="411480" cy="219456"/>
          </a:xfrm>
          <a:prstGeom prst="rect">
            <a:avLst/>
          </a:prstGeom>
          <a:noFill/>
          <a:ln/>
        </p:spPr>
        <p:txBody>
          <a:bodyPr wrap="square" lIns="0" tIns="0" rIns="0" bIns="0" rtlCol="0" anchor="ctr"/>
          <a:lstStyle/>
          <a:p>
            <a:pPr algn="r" indent="0" marL="0">
              <a:buNone/>
            </a:pPr>
            <a:r>
              <a:rPr lang="en-US" sz="1000" b="1" dirty="0">
                <a:solidFill>
                  <a:srgbClr val="E6A817"/>
                </a:solidFill>
                <a:latin typeface="Calibri" pitchFamily="34" charset="0"/>
                <a:ea typeface="Calibri" pitchFamily="34" charset="-122"/>
                <a:cs typeface="Calibri" pitchFamily="34" charset="-120"/>
              </a:rPr>
              <a:t>3%</a:t>
            </a:r>
            <a:endParaRPr lang="en-US" sz="1000" dirty="0"/>
          </a:p>
        </p:txBody>
      </p:sp>
      <p:sp>
        <p:nvSpPr>
          <p:cNvPr id="34" name="Shape 32"/>
          <p:cNvSpPr/>
          <p:nvPr/>
        </p:nvSpPr>
        <p:spPr>
          <a:xfrm>
            <a:off x="548640" y="3931920"/>
            <a:ext cx="11064240" cy="2423160"/>
          </a:xfrm>
          <a:prstGeom prst="roundRect">
            <a:avLst>
              <a:gd name="adj" fmla="val 4528"/>
            </a:avLst>
          </a:prstGeom>
          <a:solidFill>
            <a:srgbClr val="FFFFFF"/>
          </a:solidFill>
          <a:ln w="12700">
            <a:solidFill>
              <a:srgbClr val="D9DFDA"/>
            </a:solidFill>
            <a:prstDash val="solid"/>
          </a:ln>
        </p:spPr>
      </p:sp>
      <p:sp>
        <p:nvSpPr>
          <p:cNvPr id="35" name="Text 33"/>
          <p:cNvSpPr txBox="1"/>
          <p:nvPr/>
        </p:nvSpPr>
        <p:spPr>
          <a:xfrm>
            <a:off x="777240" y="4023360"/>
            <a:ext cx="7315200" cy="365760"/>
          </a:xfrm>
          <a:prstGeom prst="rect">
            <a:avLst/>
          </a:prstGeom>
          <a:noFill/>
          <a:ln/>
        </p:spPr>
        <p:txBody>
          <a:bodyPr wrap="square" lIns="0" tIns="0" rIns="0" bIns="0" rtlCol="0" anchor="ctr"/>
          <a:lstStyle/>
          <a:p>
            <a:pPr indent="0" marL="0">
              <a:buNone/>
            </a:pPr>
            <a:r>
              <a:rPr lang="en-US" sz="1500" b="1" dirty="0">
                <a:solidFill>
                  <a:srgbClr val="14232B"/>
                </a:solidFill>
                <a:latin typeface="Calibri" pitchFamily="34" charset="0"/>
                <a:ea typeface="Calibri" pitchFamily="34" charset="-122"/>
                <a:cs typeface="Calibri" pitchFamily="34" charset="-120"/>
              </a:rPr>
              <a:t>Features used and why (55 predictors)</a:t>
            </a:r>
            <a:endParaRPr lang="en-US" sz="1500" dirty="0"/>
          </a:p>
        </p:txBody>
      </p:sp>
      <p:sp>
        <p:nvSpPr>
          <p:cNvPr id="36" name="Text 34"/>
          <p:cNvSpPr txBox="1"/>
          <p:nvPr/>
        </p:nvSpPr>
        <p:spPr>
          <a:xfrm>
            <a:off x="7589520" y="4023360"/>
            <a:ext cx="3840480" cy="365760"/>
          </a:xfrm>
          <a:prstGeom prst="rect">
            <a:avLst/>
          </a:prstGeom>
          <a:noFill/>
          <a:ln/>
        </p:spPr>
        <p:txBody>
          <a:bodyPr wrap="square" lIns="0" tIns="0" rIns="0" bIns="0" rtlCol="0" anchor="ctr"/>
          <a:lstStyle/>
          <a:p>
            <a:pPr algn="r" indent="0" marL="0">
              <a:buNone/>
            </a:pPr>
            <a:r>
              <a:rPr lang="en-US" sz="1100" dirty="0">
                <a:solidFill>
                  <a:srgbClr val="5E6E73"/>
                </a:solidFill>
                <a:latin typeface="Calibri" pitchFamily="34" charset="0"/>
                <a:ea typeface="Calibri" pitchFamily="34" charset="-122"/>
                <a:cs typeface="Calibri" pitchFamily="34" charset="-120"/>
              </a:rPr>
              <a:t>Bar length shows how many predictors each group contributes</a:t>
            </a:r>
            <a:endParaRPr lang="en-US" sz="1100" dirty="0"/>
          </a:p>
        </p:txBody>
      </p:sp>
      <p:sp>
        <p:nvSpPr>
          <p:cNvPr id="37" name="Shape 35"/>
          <p:cNvSpPr/>
          <p:nvPr/>
        </p:nvSpPr>
        <p:spPr>
          <a:xfrm>
            <a:off x="777240" y="4517136"/>
            <a:ext cx="274320" cy="274320"/>
          </a:xfrm>
          <a:prstGeom prst="ellipse">
            <a:avLst/>
          </a:prstGeom>
          <a:solidFill>
            <a:srgbClr val="0F6B66"/>
          </a:solidFill>
          <a:ln w="12700">
            <a:solidFill>
              <a:srgbClr val="0F6B66"/>
            </a:solidFill>
            <a:prstDash val="solid"/>
          </a:ln>
        </p:spPr>
      </p:sp>
      <p:sp>
        <p:nvSpPr>
          <p:cNvPr id="38" name="Text 36"/>
          <p:cNvSpPr txBox="1"/>
          <p:nvPr/>
        </p:nvSpPr>
        <p:spPr>
          <a:xfrm>
            <a:off x="777240" y="45171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39" name="Text 37"/>
          <p:cNvSpPr txBox="1"/>
          <p:nvPr/>
        </p:nvSpPr>
        <p:spPr>
          <a:xfrm>
            <a:off x="1188720" y="4480560"/>
            <a:ext cx="2011680" cy="347472"/>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Documented so far</a:t>
            </a:r>
            <a:endParaRPr lang="en-US" sz="1400" dirty="0"/>
          </a:p>
        </p:txBody>
      </p:sp>
      <p:sp>
        <p:nvSpPr>
          <p:cNvPr id="40" name="Text 38"/>
          <p:cNvSpPr txBox="1"/>
          <p:nvPr/>
        </p:nvSpPr>
        <p:spPr>
          <a:xfrm>
            <a:off x="3200400" y="4480560"/>
            <a:ext cx="4937760" cy="347472"/>
          </a:xfrm>
          <a:prstGeom prst="rect">
            <a:avLst/>
          </a:prstGeom>
          <a:noFill/>
          <a:ln/>
        </p:spPr>
        <p:txBody>
          <a:bodyPr wrap="square" lIns="0" tIns="0" rIns="0" bIns="0" rtlCol="0" anchor="ctr"/>
          <a:lstStyle/>
          <a:p>
            <a:pPr indent="0" marL="0">
              <a:buNone/>
            </a:pPr>
            <a:r>
              <a:rPr lang="en-US" sz="1300" dirty="0">
                <a:solidFill>
                  <a:srgbClr val="5E6E73"/>
                </a:solidFill>
                <a:latin typeface="Calibri" pitchFamily="34" charset="0"/>
                <a:ea typeface="Calibri" pitchFamily="34" charset="-122"/>
                <a:cs typeface="Calibri" pitchFamily="34" charset="-120"/>
              </a:rPr>
              <a:t>Category counts, value and cost: current coverage</a:t>
            </a:r>
            <a:endParaRPr lang="en-US" sz="1300" dirty="0"/>
          </a:p>
        </p:txBody>
      </p:sp>
      <p:sp>
        <p:nvSpPr>
          <p:cNvPr id="41" name="Shape 39"/>
          <p:cNvSpPr/>
          <p:nvPr/>
        </p:nvSpPr>
        <p:spPr>
          <a:xfrm>
            <a:off x="8412480" y="4553712"/>
            <a:ext cx="2084832" cy="201168"/>
          </a:xfrm>
          <a:prstGeom prst="roundRect">
            <a:avLst>
              <a:gd name="adj" fmla="val 22727"/>
            </a:avLst>
          </a:prstGeom>
          <a:solidFill>
            <a:srgbClr val="0F6B66"/>
          </a:solidFill>
          <a:ln w="12700">
            <a:solidFill>
              <a:srgbClr val="0F6B66"/>
            </a:solidFill>
            <a:prstDash val="solid"/>
          </a:ln>
        </p:spPr>
      </p:sp>
      <p:sp>
        <p:nvSpPr>
          <p:cNvPr id="42" name="Shape 40"/>
          <p:cNvSpPr/>
          <p:nvPr/>
        </p:nvSpPr>
        <p:spPr>
          <a:xfrm>
            <a:off x="777240" y="4882896"/>
            <a:ext cx="274320" cy="274320"/>
          </a:xfrm>
          <a:prstGeom prst="ellipse">
            <a:avLst/>
          </a:prstGeom>
          <a:solidFill>
            <a:srgbClr val="0F6B66"/>
          </a:solidFill>
          <a:ln w="12700">
            <a:solidFill>
              <a:srgbClr val="0F6B66"/>
            </a:solidFill>
            <a:prstDash val="solid"/>
          </a:ln>
        </p:spPr>
      </p:sp>
      <p:sp>
        <p:nvSpPr>
          <p:cNvPr id="43" name="Text 41"/>
          <p:cNvSpPr txBox="1"/>
          <p:nvPr/>
        </p:nvSpPr>
        <p:spPr>
          <a:xfrm>
            <a:off x="777240" y="488289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44" name="Text 42"/>
          <p:cNvSpPr txBox="1"/>
          <p:nvPr/>
        </p:nvSpPr>
        <p:spPr>
          <a:xfrm>
            <a:off x="1188720" y="4846320"/>
            <a:ext cx="2011680" cy="347472"/>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myVal AI outputs</a:t>
            </a:r>
            <a:endParaRPr lang="en-US" sz="1400" dirty="0"/>
          </a:p>
        </p:txBody>
      </p:sp>
      <p:sp>
        <p:nvSpPr>
          <p:cNvPr id="45" name="Text 43"/>
          <p:cNvSpPr txBox="1"/>
          <p:nvPr/>
        </p:nvSpPr>
        <p:spPr>
          <a:xfrm>
            <a:off x="3200400" y="4846320"/>
            <a:ext cx="4937760" cy="347472"/>
          </a:xfrm>
          <a:prstGeom prst="rect">
            <a:avLst/>
          </a:prstGeom>
          <a:noFill/>
          <a:ln/>
        </p:spPr>
        <p:txBody>
          <a:bodyPr wrap="square" lIns="0" tIns="0" rIns="0" bIns="0" rtlCol="0" anchor="ctr"/>
          <a:lstStyle/>
          <a:p>
            <a:pPr indent="0" marL="0">
              <a:buNone/>
            </a:pPr>
            <a:r>
              <a:rPr lang="en-US" sz="1300" dirty="0">
                <a:solidFill>
                  <a:srgbClr val="5E6E73"/>
                </a:solidFill>
                <a:latin typeface="Calibri" pitchFamily="34" charset="0"/>
                <a:ea typeface="Calibri" pitchFamily="34" charset="-122"/>
                <a:cs typeface="Calibri" pitchFamily="34" charset="-120"/>
              </a:rPr>
              <a:t>Top-ranked AI guess: match, acceptance, value, counts</a:t>
            </a:r>
            <a:endParaRPr lang="en-US" sz="1300" dirty="0"/>
          </a:p>
        </p:txBody>
      </p:sp>
      <p:sp>
        <p:nvSpPr>
          <p:cNvPr id="46" name="Shape 44"/>
          <p:cNvSpPr/>
          <p:nvPr/>
        </p:nvSpPr>
        <p:spPr>
          <a:xfrm>
            <a:off x="8412480" y="4919472"/>
            <a:ext cx="2258568" cy="201168"/>
          </a:xfrm>
          <a:prstGeom prst="roundRect">
            <a:avLst>
              <a:gd name="adj" fmla="val 22727"/>
            </a:avLst>
          </a:prstGeom>
          <a:solidFill>
            <a:srgbClr val="E6A817"/>
          </a:solidFill>
          <a:ln w="12700">
            <a:solidFill>
              <a:srgbClr val="E6A817"/>
            </a:solidFill>
            <a:prstDash val="solid"/>
          </a:ln>
        </p:spPr>
      </p:sp>
      <p:sp>
        <p:nvSpPr>
          <p:cNvPr id="47" name="Shape 45"/>
          <p:cNvSpPr/>
          <p:nvPr/>
        </p:nvSpPr>
        <p:spPr>
          <a:xfrm>
            <a:off x="777240" y="5248656"/>
            <a:ext cx="274320" cy="274320"/>
          </a:xfrm>
          <a:prstGeom prst="ellipse">
            <a:avLst/>
          </a:prstGeom>
          <a:solidFill>
            <a:srgbClr val="0F6B66"/>
          </a:solidFill>
          <a:ln w="12700">
            <a:solidFill>
              <a:srgbClr val="0F6B66"/>
            </a:solidFill>
            <a:prstDash val="solid"/>
          </a:ln>
        </p:spPr>
      </p:sp>
      <p:sp>
        <p:nvSpPr>
          <p:cNvPr id="48" name="Text 46"/>
          <p:cNvSpPr txBox="1"/>
          <p:nvPr/>
        </p:nvSpPr>
        <p:spPr>
          <a:xfrm>
            <a:off x="777240" y="52486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49" name="Text 47"/>
          <p:cNvSpPr txBox="1"/>
          <p:nvPr/>
        </p:nvSpPr>
        <p:spPr>
          <a:xfrm>
            <a:off x="1188720" y="5212080"/>
            <a:ext cx="2011680" cy="347472"/>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Customer profile</a:t>
            </a:r>
            <a:endParaRPr lang="en-US" sz="1400" dirty="0"/>
          </a:p>
        </p:txBody>
      </p:sp>
      <p:sp>
        <p:nvSpPr>
          <p:cNvPr id="50" name="Text 48"/>
          <p:cNvSpPr txBox="1"/>
          <p:nvPr/>
        </p:nvSpPr>
        <p:spPr>
          <a:xfrm>
            <a:off x="3200400" y="5212080"/>
            <a:ext cx="4937760" cy="347472"/>
          </a:xfrm>
          <a:prstGeom prst="rect">
            <a:avLst/>
          </a:prstGeom>
          <a:noFill/>
          <a:ln/>
        </p:spPr>
        <p:txBody>
          <a:bodyPr wrap="square" lIns="0" tIns="0" rIns="0" bIns="0" rtlCol="0" anchor="ctr"/>
          <a:lstStyle/>
          <a:p>
            <a:pPr indent="0" marL="0">
              <a:buNone/>
            </a:pPr>
            <a:r>
              <a:rPr lang="en-US" sz="1300" dirty="0">
                <a:solidFill>
                  <a:srgbClr val="5E6E73"/>
                </a:solidFill>
                <a:latin typeface="Calibri" pitchFamily="34" charset="0"/>
                <a:ea typeface="Calibri" pitchFamily="34" charset="-122"/>
                <a:cs typeface="Calibri" pitchFamily="34" charset="-120"/>
              </a:rPr>
              <a:t>Age, income, engagement, tenure: segment context</a:t>
            </a:r>
            <a:endParaRPr lang="en-US" sz="1300" dirty="0"/>
          </a:p>
        </p:txBody>
      </p:sp>
      <p:sp>
        <p:nvSpPr>
          <p:cNvPr id="51" name="Shape 49"/>
          <p:cNvSpPr/>
          <p:nvPr/>
        </p:nvSpPr>
        <p:spPr>
          <a:xfrm>
            <a:off x="8412480" y="5285232"/>
            <a:ext cx="2953512" cy="201168"/>
          </a:xfrm>
          <a:prstGeom prst="roundRect">
            <a:avLst>
              <a:gd name="adj" fmla="val 22727"/>
            </a:avLst>
          </a:prstGeom>
          <a:solidFill>
            <a:srgbClr val="0F6B66"/>
          </a:solidFill>
          <a:ln w="12700">
            <a:solidFill>
              <a:srgbClr val="0F6B66"/>
            </a:solidFill>
            <a:prstDash val="solid"/>
          </a:ln>
        </p:spPr>
      </p:sp>
      <p:sp>
        <p:nvSpPr>
          <p:cNvPr id="52" name="Shape 50"/>
          <p:cNvSpPr/>
          <p:nvPr/>
        </p:nvSpPr>
        <p:spPr>
          <a:xfrm>
            <a:off x="777240" y="5614416"/>
            <a:ext cx="274320" cy="274320"/>
          </a:xfrm>
          <a:prstGeom prst="ellipse">
            <a:avLst/>
          </a:prstGeom>
          <a:solidFill>
            <a:srgbClr val="0F6B66"/>
          </a:solidFill>
          <a:ln w="12700">
            <a:solidFill>
              <a:srgbClr val="0F6B66"/>
            </a:solidFill>
            <a:prstDash val="solid"/>
          </a:ln>
        </p:spPr>
      </p:sp>
      <p:sp>
        <p:nvSpPr>
          <p:cNvPr id="53" name="Text 51"/>
          <p:cNvSpPr txBox="1"/>
          <p:nvPr/>
        </p:nvSpPr>
        <p:spPr>
          <a:xfrm>
            <a:off x="777240" y="56144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4" name="Text 52"/>
          <p:cNvSpPr txBox="1"/>
          <p:nvPr/>
        </p:nvSpPr>
        <p:spPr>
          <a:xfrm>
            <a:off x="1188720" y="5577840"/>
            <a:ext cx="2011680" cy="347472"/>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Property details</a:t>
            </a:r>
            <a:endParaRPr lang="en-US" sz="1400" dirty="0"/>
          </a:p>
        </p:txBody>
      </p:sp>
      <p:sp>
        <p:nvSpPr>
          <p:cNvPr id="55" name="Text 53"/>
          <p:cNvSpPr txBox="1"/>
          <p:nvPr/>
        </p:nvSpPr>
        <p:spPr>
          <a:xfrm>
            <a:off x="3200400" y="5577840"/>
            <a:ext cx="4937760" cy="347472"/>
          </a:xfrm>
          <a:prstGeom prst="rect">
            <a:avLst/>
          </a:prstGeom>
          <a:noFill/>
          <a:ln/>
        </p:spPr>
        <p:txBody>
          <a:bodyPr wrap="square" lIns="0" tIns="0" rIns="0" bIns="0" rtlCol="0" anchor="ctr"/>
          <a:lstStyle/>
          <a:p>
            <a:pPr indent="0" marL="0">
              <a:buNone/>
            </a:pPr>
            <a:r>
              <a:rPr lang="en-US" sz="1300" dirty="0">
                <a:solidFill>
                  <a:srgbClr val="5E6E73"/>
                </a:solidFill>
                <a:latin typeface="Calibri" pitchFamily="34" charset="0"/>
                <a:ea typeface="Calibri" pitchFamily="34" charset="-122"/>
                <a:cs typeface="Calibri" pitchFamily="34" charset="-120"/>
              </a:rPr>
              <a:t>Type, valuation, occupants: what the home holds</a:t>
            </a:r>
            <a:endParaRPr lang="en-US" sz="1300" dirty="0"/>
          </a:p>
        </p:txBody>
      </p:sp>
      <p:sp>
        <p:nvSpPr>
          <p:cNvPr id="56" name="Shape 54"/>
          <p:cNvSpPr/>
          <p:nvPr/>
        </p:nvSpPr>
        <p:spPr>
          <a:xfrm>
            <a:off x="8412480" y="5650992"/>
            <a:ext cx="1389888" cy="201168"/>
          </a:xfrm>
          <a:prstGeom prst="roundRect">
            <a:avLst>
              <a:gd name="adj" fmla="val 22727"/>
            </a:avLst>
          </a:prstGeom>
          <a:solidFill>
            <a:srgbClr val="6FC2B9"/>
          </a:solidFill>
          <a:ln w="12700">
            <a:solidFill>
              <a:srgbClr val="6FC2B9"/>
            </a:solidFill>
            <a:prstDash val="solid"/>
          </a:ln>
        </p:spPr>
      </p:sp>
      <p:sp>
        <p:nvSpPr>
          <p:cNvPr id="57" name="Shape 55"/>
          <p:cNvSpPr/>
          <p:nvPr/>
        </p:nvSpPr>
        <p:spPr>
          <a:xfrm>
            <a:off x="777240" y="5980176"/>
            <a:ext cx="274320" cy="274320"/>
          </a:xfrm>
          <a:prstGeom prst="ellipse">
            <a:avLst/>
          </a:prstGeom>
          <a:solidFill>
            <a:srgbClr val="0F6B66"/>
          </a:solidFill>
          <a:ln w="12700">
            <a:solidFill>
              <a:srgbClr val="0F6B66"/>
            </a:solidFill>
            <a:prstDash val="solid"/>
          </a:ln>
        </p:spPr>
      </p:sp>
      <p:sp>
        <p:nvSpPr>
          <p:cNvPr id="58" name="Text 56"/>
          <p:cNvSpPr txBox="1"/>
          <p:nvPr/>
        </p:nvSpPr>
        <p:spPr>
          <a:xfrm>
            <a:off x="777240" y="59801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9" name="Text 57"/>
          <p:cNvSpPr txBox="1"/>
          <p:nvPr/>
        </p:nvSpPr>
        <p:spPr>
          <a:xfrm>
            <a:off x="1188720" y="5943600"/>
            <a:ext cx="2011680" cy="347472"/>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Video signals</a:t>
            </a:r>
            <a:endParaRPr lang="en-US" sz="1400" dirty="0"/>
          </a:p>
        </p:txBody>
      </p:sp>
      <p:sp>
        <p:nvSpPr>
          <p:cNvPr id="60" name="Text 58"/>
          <p:cNvSpPr txBox="1"/>
          <p:nvPr/>
        </p:nvSpPr>
        <p:spPr>
          <a:xfrm>
            <a:off x="3200400" y="5943600"/>
            <a:ext cx="4937760" cy="347472"/>
          </a:xfrm>
          <a:prstGeom prst="rect">
            <a:avLst/>
          </a:prstGeom>
          <a:noFill/>
          <a:ln/>
        </p:spPr>
        <p:txBody>
          <a:bodyPr wrap="square" lIns="0" tIns="0" rIns="0" bIns="0" rtlCol="0" anchor="ctr"/>
          <a:lstStyle/>
          <a:p>
            <a:pPr indent="0" marL="0">
              <a:buNone/>
            </a:pPr>
            <a:r>
              <a:rPr lang="en-US" sz="1300" dirty="0">
                <a:solidFill>
                  <a:srgbClr val="5E6E73"/>
                </a:solidFill>
                <a:latin typeface="Calibri" pitchFamily="34" charset="0"/>
                <a:ea typeface="Calibri" pitchFamily="34" charset="-122"/>
                <a:cs typeface="Calibri" pitchFamily="34" charset="-120"/>
              </a:rPr>
              <a:t>Rooms, items, duration: optional, 22% coverage</a:t>
            </a:r>
            <a:endParaRPr lang="en-US" sz="1300" dirty="0"/>
          </a:p>
        </p:txBody>
      </p:sp>
      <p:sp>
        <p:nvSpPr>
          <p:cNvPr id="61" name="Shape 59"/>
          <p:cNvSpPr/>
          <p:nvPr/>
        </p:nvSpPr>
        <p:spPr>
          <a:xfrm>
            <a:off x="8412480" y="6016752"/>
            <a:ext cx="868680" cy="201168"/>
          </a:xfrm>
          <a:prstGeom prst="roundRect">
            <a:avLst>
              <a:gd name="adj" fmla="val 22727"/>
            </a:avLst>
          </a:prstGeom>
          <a:solidFill>
            <a:srgbClr val="0F6B66"/>
          </a:solidFill>
          <a:ln w="12700">
            <a:solidFill>
              <a:srgbClr val="0F6B66"/>
            </a:solidFill>
            <a:prstDash val="solid"/>
          </a:ln>
        </p:spPr>
      </p:sp>
      <p:sp>
        <p:nvSpPr>
          <p:cNvPr id="62" name="Text 60"/>
          <p:cNvSpPr txBox="1"/>
          <p:nvPr/>
        </p:nvSpPr>
        <p:spPr>
          <a:xfrm>
            <a:off x="10881360" y="6400800"/>
            <a:ext cx="731520" cy="274320"/>
          </a:xfrm>
          <a:prstGeom prst="rect">
            <a:avLst/>
          </a:prstGeom>
          <a:noFill/>
          <a:ln/>
        </p:spPr>
        <p:txBody>
          <a:bodyPr wrap="square" lIns="0" tIns="0" rIns="0" bIns="0" rtlCol="0" anchor="ctr"/>
          <a:lstStyle/>
          <a:p>
            <a:pPr algn="r" indent="0" marL="0">
              <a:buNone/>
            </a:pPr>
            <a:r>
              <a:rPr lang="en-US" sz="1100" dirty="0">
                <a:solidFill>
                  <a:srgbClr val="5E6E73"/>
                </a:solidFill>
                <a:latin typeface="Calibri" pitchFamily="34" charset="0"/>
                <a:ea typeface="Calibri" pitchFamily="34" charset="-122"/>
                <a:cs typeface="Calibri" pitchFamily="34" charset="-120"/>
              </a:rPr>
              <a:t>2 / 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0"/>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4232B"/>
                </a:solidFill>
                <a:latin typeface="Cambria" pitchFamily="34" charset="0"/>
                <a:ea typeface="Cambria" pitchFamily="34" charset="-122"/>
                <a:cs typeface="Cambria" pitchFamily="34" charset="-120"/>
              </a:rPr>
              <a:t>Architecture: from myVal data to a live recommendation</a:t>
            </a:r>
            <a:endParaRPr lang="en-US" sz="3200" dirty="0"/>
          </a:p>
        </p:txBody>
      </p:sp>
      <p:pic>
        <p:nvPicPr>
          <p:cNvPr id="3" name="Image 0" descr="architecture.png">    </p:cNvPr>
          <p:cNvPicPr>
            <a:picLocks noChangeAspect="1"/>
          </p:cNvPicPr>
          <p:nvPr/>
        </p:nvPicPr>
        <p:blipFill>
          <a:blip r:embed="rId1"/>
          <a:stretch>
            <a:fillRect/>
          </a:stretch>
        </p:blipFill>
        <p:spPr>
          <a:xfrm>
            <a:off x="457200" y="1417320"/>
            <a:ext cx="11247120" cy="4623816"/>
          </a:xfrm>
          <a:prstGeom prst="rect">
            <a:avLst/>
          </a:prstGeom>
        </p:spPr>
      </p:pic>
      <p:sp>
        <p:nvSpPr>
          <p:cNvPr id="4" name="Text 1"/>
          <p:cNvSpPr txBox="1"/>
          <p:nvPr/>
        </p:nvSpPr>
        <p:spPr>
          <a:xfrm>
            <a:off x="548640" y="6172200"/>
            <a:ext cx="10241280" cy="365760"/>
          </a:xfrm>
          <a:prstGeom prst="rect">
            <a:avLst/>
          </a:prstGeom>
          <a:noFill/>
          <a:ln/>
        </p:spPr>
        <p:txBody>
          <a:bodyPr wrap="square" lIns="0" tIns="0" rIns="0" bIns="0" rtlCol="0" anchor="ctr"/>
          <a:lstStyle/>
          <a:p>
            <a:pPr indent="0" marL="0">
              <a:buNone/>
            </a:pPr>
            <a:r>
              <a:rPr lang="en-US" sz="1400" dirty="0">
                <a:solidFill>
                  <a:srgbClr val="5E6E73"/>
                </a:solidFill>
                <a:latin typeface="Calibri" pitchFamily="34" charset="0"/>
                <a:ea typeface="Calibri" pitchFamily="34" charset="-122"/>
                <a:cs typeface="Calibri" pitchFamily="34" charset="-120"/>
              </a:rPr>
              <a:t>Both models are scikit-learn Pipelines (imputer, scaler, one-hot encoder, classifier) saved with joblib.</a:t>
            </a:r>
            <a:endParaRPr lang="en-US" sz="1400" dirty="0"/>
          </a:p>
        </p:txBody>
      </p:sp>
      <p:sp>
        <p:nvSpPr>
          <p:cNvPr id="5" name="Text 2"/>
          <p:cNvSpPr txBox="1"/>
          <p:nvPr/>
        </p:nvSpPr>
        <p:spPr>
          <a:xfrm>
            <a:off x="10881360" y="6400800"/>
            <a:ext cx="731520" cy="274320"/>
          </a:xfrm>
          <a:prstGeom prst="rect">
            <a:avLst/>
          </a:prstGeom>
          <a:noFill/>
          <a:ln/>
        </p:spPr>
        <p:txBody>
          <a:bodyPr wrap="square" lIns="0" tIns="0" rIns="0" bIns="0" rtlCol="0" anchor="ctr"/>
          <a:lstStyle/>
          <a:p>
            <a:pPr algn="r" indent="0" marL="0">
              <a:buNone/>
            </a:pPr>
            <a:r>
              <a:rPr lang="en-US" sz="1100" dirty="0">
                <a:solidFill>
                  <a:srgbClr val="5E6E73"/>
                </a:solidFill>
                <a:latin typeface="Calibri" pitchFamily="34" charset="0"/>
                <a:ea typeface="Calibri" pitchFamily="34" charset="-122"/>
                <a:cs typeface="Calibri" pitchFamily="34" charset="-120"/>
              </a:rPr>
              <a:t>3 / 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4232B"/>
                </a:solidFill>
                <a:latin typeface="Cambria" pitchFamily="34" charset="0"/>
                <a:ea typeface="Cambria" pitchFamily="34" charset="-122"/>
                <a:cs typeface="Cambria" pitchFamily="34" charset="-120"/>
              </a:rPr>
              <a:t>Tuned Random Forest: 83.6% Top-3 on unseen properties</a:t>
            </a:r>
            <a:endParaRPr lang="en-US" sz="3200" dirty="0"/>
          </a:p>
        </p:txBody>
      </p:sp>
      <p:sp>
        <p:nvSpPr>
          <p:cNvPr id="3" name="Shape 1"/>
          <p:cNvSpPr/>
          <p:nvPr/>
        </p:nvSpPr>
        <p:spPr>
          <a:xfrm>
            <a:off x="548640" y="1280160"/>
            <a:ext cx="5394960" cy="2331720"/>
          </a:xfrm>
          <a:prstGeom prst="roundRect">
            <a:avLst>
              <a:gd name="adj" fmla="val 4706"/>
            </a:avLst>
          </a:prstGeom>
          <a:solidFill>
            <a:srgbClr val="F2F4F0"/>
          </a:solidFill>
          <a:ln w="12700">
            <a:solidFill>
              <a:srgbClr val="D9DFDA"/>
            </a:solidFill>
            <a:prstDash val="solid"/>
          </a:ln>
        </p:spPr>
      </p:sp>
      <p:sp>
        <p:nvSpPr>
          <p:cNvPr id="4" name="Text 2"/>
          <p:cNvSpPr txBox="1"/>
          <p:nvPr/>
        </p:nvSpPr>
        <p:spPr>
          <a:xfrm>
            <a:off x="777240" y="1353312"/>
            <a:ext cx="493776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Holdout Top-k accuracy on unseen properties</a:t>
            </a:r>
            <a:endParaRPr lang="en-US" sz="1400" dirty="0"/>
          </a:p>
        </p:txBody>
      </p:sp>
      <p:graphicFrame>
        <p:nvGraphicFramePr>
          <p:cNvPr id="5" name="Chart 0" descr=""/>
          <p:cNvGraphicFramePr/>
          <p:nvPr/>
        </p:nvGraphicFramePr>
        <p:xfrm>
          <a:off x="685800" y="1691640"/>
          <a:ext cx="5120640" cy="1874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217920" y="1280160"/>
            <a:ext cx="5394960" cy="2331720"/>
          </a:xfrm>
          <a:prstGeom prst="roundRect">
            <a:avLst>
              <a:gd name="adj" fmla="val 4706"/>
            </a:avLst>
          </a:prstGeom>
          <a:solidFill>
            <a:srgbClr val="F2F4F0"/>
          </a:solidFill>
          <a:ln w="12700">
            <a:solidFill>
              <a:srgbClr val="D9DFDA"/>
            </a:solidFill>
            <a:prstDash val="solid"/>
          </a:ln>
        </p:spPr>
      </p:sp>
      <p:sp>
        <p:nvSpPr>
          <p:cNvPr id="7" name="Text 4"/>
          <p:cNvSpPr txBox="1"/>
          <p:nvPr/>
        </p:nvSpPr>
        <p:spPr>
          <a:xfrm>
            <a:off x="6446520" y="1353312"/>
            <a:ext cx="493776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Holdout Top-1 F1 by class</a:t>
            </a:r>
            <a:endParaRPr lang="en-US" sz="1400" dirty="0"/>
          </a:p>
        </p:txBody>
      </p:sp>
      <p:graphicFrame>
        <p:nvGraphicFramePr>
          <p:cNvPr id="8" name="Chart 1" descr=""/>
          <p:cNvGraphicFramePr/>
          <p:nvPr/>
        </p:nvGraphicFramePr>
        <p:xfrm>
          <a:off x="6355080" y="1691640"/>
          <a:ext cx="5120640" cy="18745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3730752"/>
            <a:ext cx="7315200" cy="27432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Validation comparison used for model selection</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5120640"/>
                <a:gridCol w="1554480"/>
                <a:gridCol w="1554480"/>
                <a:gridCol w="1417320"/>
                <a:gridCol w="1417320"/>
              </a:tblGrid>
              <a:tr h="23774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14232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14232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Macro F1</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14232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Top-2</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14232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Top-3</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14232B"/>
                    </a:solidFill>
                  </a:tcPr>
                </a:tc>
              </a:tr>
              <a:tr h="237744">
                <a:tc>
                  <a:txBody>
                    <a:bodyPr/>
                    <a:lstStyle/>
                    <a:p>
                      <a:pPr algn="l" indent="0" marL="0">
                        <a:buNone/>
                      </a:pPr>
                      <a:r>
                        <a:rPr lang="en-US" sz="1050" dirty="0">
                          <a:solidFill>
                            <a:srgbClr val="14232B"/>
                          </a:solidFill>
                          <a:latin typeface="Calibri" pitchFamily="34" charset="0"/>
                          <a:ea typeface="Calibri" pitchFamily="34" charset="-122"/>
                          <a:cs typeface="Calibri" pitchFamily="34" charset="-120"/>
                        </a:rPr>
                        <a:t>Majority baseline</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0.224</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0.061</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r>
              <a:tr h="237744">
                <a:tc>
                  <a:txBody>
                    <a:bodyPr/>
                    <a:lstStyle/>
                    <a:p>
                      <a:pPr algn="l" indent="0" marL="0">
                        <a:buNone/>
                      </a:pPr>
                      <a:r>
                        <a:rPr lang="en-US" sz="1050" dirty="0">
                          <a:solidFill>
                            <a:srgbClr val="14232B"/>
                          </a:solidFill>
                          <a:latin typeface="Calibri" pitchFamily="34" charset="0"/>
                          <a:ea typeface="Calibri" pitchFamily="34" charset="-122"/>
                          <a:cs typeface="Calibri" pitchFamily="34" charset="-120"/>
                        </a:rPr>
                        <a:t>Logistic Regression</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0.358</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0.335</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0.567</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0.806</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14232B"/>
                          </a:solidFill>
                          <a:latin typeface="Calibri" pitchFamily="34" charset="0"/>
                          <a:ea typeface="Calibri" pitchFamily="34" charset="-122"/>
                          <a:cs typeface="Calibri" pitchFamily="34" charset="-120"/>
                        </a:rPr>
                        <a:t>Random Forest (Top-1 model)</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0.478</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0.421</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0.657</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0.806</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r>
              <a:tr h="237744">
                <a:tc>
                  <a:txBody>
                    <a:bodyPr/>
                    <a:lstStyle/>
                    <a:p>
                      <a:pPr algn="l" indent="0" marL="0">
                        <a:buNone/>
                      </a:pPr>
                      <a:r>
                        <a:rPr lang="en-US" sz="1050" dirty="0">
                          <a:solidFill>
                            <a:srgbClr val="14232B"/>
                          </a:solidFill>
                          <a:latin typeface="Calibri" pitchFamily="34" charset="0"/>
                          <a:ea typeface="Calibri" pitchFamily="34" charset="-122"/>
                          <a:cs typeface="Calibri" pitchFamily="34" charset="-120"/>
                        </a:rPr>
                        <a:t>CatBoost tuned</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0.448</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0.326</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0.702</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0.821</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14232B"/>
                          </a:solidFill>
                          <a:latin typeface="Calibri" pitchFamily="34" charset="0"/>
                          <a:ea typeface="Calibri" pitchFamily="34" charset="-122"/>
                          <a:cs typeface="Calibri" pitchFamily="34" charset="-120"/>
                        </a:rPr>
                        <a:t>CatBoost regularised</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0.433</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0.338</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0.702</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0.806</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r>
              <a:tr h="237744">
                <a:tc>
                  <a:txBody>
                    <a:bodyPr/>
                    <a:lstStyle/>
                    <a:p>
                      <a:pPr algn="l" indent="0" marL="0">
                        <a:buNone/>
                      </a:pPr>
                      <a:r>
                        <a:rPr lang="en-US" sz="1050" b="1" dirty="0">
                          <a:solidFill>
                            <a:srgbClr val="14232B"/>
                          </a:solidFill>
                          <a:latin typeface="Calibri" pitchFamily="34" charset="0"/>
                          <a:ea typeface="Calibri" pitchFamily="34" charset="-122"/>
                          <a:cs typeface="Calibri" pitchFamily="34" charset="-120"/>
                        </a:rPr>
                        <a:t>Random Forest regularised (ranking model)</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D7EBE6"/>
                    </a:solidFill>
                  </a:tcPr>
                </a:tc>
                <a:tc>
                  <a:txBody>
                    <a:bodyPr/>
                    <a:lstStyle/>
                    <a:p>
                      <a:pPr algn="ctr" indent="0" marL="0">
                        <a:buNone/>
                      </a:pPr>
                      <a:r>
                        <a:rPr lang="en-US" sz="1050" b="1" dirty="0">
                          <a:solidFill>
                            <a:srgbClr val="14232B"/>
                          </a:solidFill>
                          <a:latin typeface="Calibri" pitchFamily="34" charset="0"/>
                          <a:ea typeface="Calibri" pitchFamily="34" charset="-122"/>
                          <a:cs typeface="Calibri" pitchFamily="34" charset="-120"/>
                        </a:rPr>
                        <a:t>0.433</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D7EBE6"/>
                    </a:solidFill>
                  </a:tcPr>
                </a:tc>
                <a:tc>
                  <a:txBody>
                    <a:bodyPr/>
                    <a:lstStyle/>
                    <a:p>
                      <a:pPr algn="ctr" indent="0" marL="0">
                        <a:buNone/>
                      </a:pPr>
                      <a:r>
                        <a:rPr lang="en-US" sz="1050" b="1" dirty="0">
                          <a:solidFill>
                            <a:srgbClr val="14232B"/>
                          </a:solidFill>
                          <a:latin typeface="Calibri" pitchFamily="34" charset="0"/>
                          <a:ea typeface="Calibri" pitchFamily="34" charset="-122"/>
                          <a:cs typeface="Calibri" pitchFamily="34" charset="-120"/>
                        </a:rPr>
                        <a:t>0.368</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D7EBE6"/>
                    </a:solidFill>
                  </a:tcPr>
                </a:tc>
                <a:tc>
                  <a:txBody>
                    <a:bodyPr/>
                    <a:lstStyle/>
                    <a:p>
                      <a:pPr algn="ctr" indent="0" marL="0">
                        <a:buNone/>
                      </a:pPr>
                      <a:r>
                        <a:rPr lang="en-US" sz="1050" b="1" dirty="0">
                          <a:solidFill>
                            <a:srgbClr val="14232B"/>
                          </a:solidFill>
                          <a:latin typeface="Calibri" pitchFamily="34" charset="0"/>
                          <a:ea typeface="Calibri" pitchFamily="34" charset="-122"/>
                          <a:cs typeface="Calibri" pitchFamily="34" charset="-120"/>
                        </a:rPr>
                        <a:t>0.716</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D7EBE6"/>
                    </a:solidFill>
                  </a:tcPr>
                </a:tc>
                <a:tc>
                  <a:txBody>
                    <a:bodyPr/>
                    <a:lstStyle/>
                    <a:p>
                      <a:pPr algn="ctr" indent="0" marL="0">
                        <a:buNone/>
                      </a:pPr>
                      <a:r>
                        <a:rPr lang="en-US" sz="1050" b="1" dirty="0">
                          <a:solidFill>
                            <a:srgbClr val="14232B"/>
                          </a:solidFill>
                          <a:latin typeface="Calibri" pitchFamily="34" charset="0"/>
                          <a:ea typeface="Calibri" pitchFamily="34" charset="-122"/>
                          <a:cs typeface="Calibri" pitchFamily="34" charset="-120"/>
                        </a:rPr>
                        <a:t>0.836</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D7EBE6"/>
                    </a:solidFill>
                  </a:tcPr>
                </a:tc>
              </a:tr>
              <a:tr h="237744">
                <a:tc>
                  <a:txBody>
                    <a:bodyPr/>
                    <a:lstStyle/>
                    <a:p>
                      <a:pPr algn="l" indent="0" marL="0">
                        <a:buNone/>
                      </a:pPr>
                      <a:r>
                        <a:rPr lang="en-US" sz="1050" dirty="0">
                          <a:solidFill>
                            <a:srgbClr val="14232B"/>
                          </a:solidFill>
                          <a:latin typeface="Calibri" pitchFamily="34" charset="0"/>
                          <a:ea typeface="Calibri" pitchFamily="34" charset="-122"/>
                          <a:cs typeface="Calibri" pitchFamily="34" charset="-120"/>
                        </a:rPr>
                        <a:t>Regularised RF without AI features</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0.388</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0.332</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0.731</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c>
                  <a:txBody>
                    <a:bodyPr/>
                    <a:lstStyle/>
                    <a:p>
                      <a:pPr algn="ctr" indent="0" marL="0">
                        <a:buNone/>
                      </a:pPr>
                      <a:r>
                        <a:rPr lang="en-US" sz="1050" dirty="0">
                          <a:solidFill>
                            <a:srgbClr val="14232B"/>
                          </a:solidFill>
                          <a:latin typeface="Calibri" pitchFamily="34" charset="0"/>
                          <a:ea typeface="Calibri" pitchFamily="34" charset="-122"/>
                          <a:cs typeface="Calibri" pitchFamily="34" charset="-120"/>
                        </a:rPr>
                        <a:t>0.821</a:t>
                      </a:r>
                      <a:endParaRPr lang="en-US" sz="1050" dirty="0">
                        <a:latin typeface="Calibri" charset="0"/>
                        <a:ea typeface="Calibri" charset="0"/>
                        <a:cs typeface="Calibri" charset="0"/>
                      </a:endParaRPr>
                    </a:p>
                  </a:txBody>
                  <a:tcPr marL="73152" marR="73152" marT="0" marB="0" anchor="ctr">
                    <a:lnL w="6350" cap="flat" cmpd="sng" algn="ctr">
                      <a:solidFill>
                        <a:srgbClr val="D9DFDA"/>
                      </a:solidFill>
                      <a:prstDash val="solid"/>
                      <a:round/>
                      <a:headEnd type="none" w="med" len="med"/>
                      <a:tailEnd type="none" w="med" len="med"/>
                    </a:lnL>
                    <a:lnR w="6350" cap="flat" cmpd="sng" algn="ctr">
                      <a:solidFill>
                        <a:srgbClr val="D9DFDA"/>
                      </a:solidFill>
                      <a:prstDash val="solid"/>
                      <a:round/>
                      <a:headEnd type="none" w="med" len="med"/>
                      <a:tailEnd type="none" w="med" len="med"/>
                    </a:lnR>
                    <a:lnT w="6350" cap="flat" cmpd="sng" algn="ctr">
                      <a:solidFill>
                        <a:srgbClr val="D9DFDA"/>
                      </a:solidFill>
                      <a:prstDash val="solid"/>
                      <a:round/>
                      <a:headEnd type="none" w="med" len="med"/>
                      <a:tailEnd type="none" w="med" len="med"/>
                    </a:lnT>
                    <a:lnB w="6350" cap="flat" cmpd="sng" algn="ctr">
                      <a:solidFill>
                        <a:srgbClr val="D9DFDA"/>
                      </a:solidFill>
                      <a:prstDash val="solid"/>
                      <a:round/>
                      <a:headEnd type="none" w="med" len="med"/>
                      <a:tailEnd type="none" w="med" len="med"/>
                    </a:lnB>
                    <a:solidFill>
                      <a:srgbClr val="F2F4F0"/>
                    </a:solidFill>
                  </a:tcPr>
                </a:tc>
              </a:tr>
            </a:tbl>
          </a:graphicData>
        </a:graphic>
      </p:graphicFrame>
      <p:sp>
        <p:nvSpPr>
          <p:cNvPr id="11" name="Text 6"/>
          <p:cNvSpPr txBox="1"/>
          <p:nvPr/>
        </p:nvSpPr>
        <p:spPr>
          <a:xfrm>
            <a:off x="548640" y="6053328"/>
            <a:ext cx="10241280" cy="274320"/>
          </a:xfrm>
          <a:prstGeom prst="rect">
            <a:avLst/>
          </a:prstGeom>
          <a:noFill/>
          <a:ln/>
        </p:spPr>
        <p:txBody>
          <a:bodyPr wrap="square" lIns="0" tIns="0" rIns="0" bIns="0" rtlCol="0" anchor="ctr"/>
          <a:lstStyle/>
          <a:p>
            <a:pPr indent="0" marL="0">
              <a:buNone/>
            </a:pPr>
            <a:r>
              <a:rPr lang="en-US" sz="1100" dirty="0">
                <a:solidFill>
                  <a:srgbClr val="5E6E73"/>
                </a:solidFill>
                <a:latin typeface="Calibri" pitchFamily="34" charset="0"/>
                <a:ea typeface="Calibri" pitchFamily="34" charset="-122"/>
                <a:cs typeface="Calibri" pitchFamily="34" charset="-120"/>
              </a:rPr>
              <a:t>Holdout scored once after selection. Macro F1 on holdout is 0.34.</a:t>
            </a:r>
            <a:endParaRPr lang="en-US" sz="1100" dirty="0"/>
          </a:p>
        </p:txBody>
      </p:sp>
      <p:sp>
        <p:nvSpPr>
          <p:cNvPr id="12" name="Text 7"/>
          <p:cNvSpPr txBox="1"/>
          <p:nvPr/>
        </p:nvSpPr>
        <p:spPr>
          <a:xfrm>
            <a:off x="10881360" y="6400800"/>
            <a:ext cx="731520" cy="274320"/>
          </a:xfrm>
          <a:prstGeom prst="rect">
            <a:avLst/>
          </a:prstGeom>
          <a:noFill/>
          <a:ln/>
        </p:spPr>
        <p:txBody>
          <a:bodyPr wrap="square" lIns="0" tIns="0" rIns="0" bIns="0" rtlCol="0" anchor="ctr"/>
          <a:lstStyle/>
          <a:p>
            <a:pPr algn="r" indent="0" marL="0">
              <a:buNone/>
            </a:pPr>
            <a:r>
              <a:rPr lang="en-US" sz="1100" dirty="0">
                <a:solidFill>
                  <a:srgbClr val="5E6E73"/>
                </a:solidFill>
                <a:latin typeface="Calibri" pitchFamily="34" charset="0"/>
                <a:ea typeface="Calibri" pitchFamily="34" charset="-122"/>
                <a:cs typeface="Calibri" pitchFamily="34" charset="-120"/>
              </a:rPr>
              <a:t>4 / 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32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the model stands and what comes next</a:t>
            </a:r>
            <a:endParaRPr lang="en-US" sz="3200" dirty="0"/>
          </a:p>
        </p:txBody>
      </p:sp>
      <p:sp>
        <p:nvSpPr>
          <p:cNvPr id="3" name="Shape 1"/>
          <p:cNvSpPr/>
          <p:nvPr/>
        </p:nvSpPr>
        <p:spPr>
          <a:xfrm>
            <a:off x="548640" y="1371600"/>
            <a:ext cx="3566160" cy="2834640"/>
          </a:xfrm>
          <a:prstGeom prst="roundRect">
            <a:avLst>
              <a:gd name="adj" fmla="val 4839"/>
            </a:avLst>
          </a:prstGeom>
          <a:solidFill>
            <a:srgbClr val="1E3540"/>
          </a:solidFill>
          <a:ln w="12700">
            <a:solidFill>
              <a:srgbClr val="2F4650"/>
            </a:solidFill>
            <a:prstDash val="solid"/>
          </a:ln>
        </p:spPr>
      </p:sp>
      <p:sp>
        <p:nvSpPr>
          <p:cNvPr id="4" name="Shape 2"/>
          <p:cNvSpPr/>
          <p:nvPr/>
        </p:nvSpPr>
        <p:spPr>
          <a:xfrm>
            <a:off x="822960" y="1572768"/>
            <a:ext cx="292608" cy="292608"/>
          </a:xfrm>
          <a:prstGeom prst="ellipse">
            <a:avLst/>
          </a:prstGeom>
          <a:solidFill>
            <a:srgbClr val="E6A817"/>
          </a:solidFill>
          <a:ln w="12700">
            <a:solidFill>
              <a:srgbClr val="E6A817"/>
            </a:solidFill>
            <a:prstDash val="solid"/>
          </a:ln>
        </p:spPr>
      </p:sp>
      <p:sp>
        <p:nvSpPr>
          <p:cNvPr id="5" name="Text 3"/>
          <p:cNvSpPr txBox="1"/>
          <p:nvPr/>
        </p:nvSpPr>
        <p:spPr>
          <a:xfrm>
            <a:off x="1261872" y="1517904"/>
            <a:ext cx="256032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Ready today</a:t>
            </a:r>
            <a:endParaRPr lang="en-US" sz="2000" dirty="0"/>
          </a:p>
        </p:txBody>
      </p:sp>
      <p:sp>
        <p:nvSpPr>
          <p:cNvPr id="6" name="Text 4"/>
          <p:cNvSpPr txBox="1"/>
          <p:nvPr/>
        </p:nvSpPr>
        <p:spPr>
          <a:xfrm>
            <a:off x="822960" y="2103120"/>
            <a:ext cx="3063240" cy="20116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Two joblib pipelines: default RF for Top-1 and regularised RF for ranking</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predict_next_categories() returns top_1, top_2 and top_3 with probabilities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FastAPI /api/predict with a web front end</a:t>
            </a:r>
            <a:endParaRPr lang="en-US" sz="1300" dirty="0"/>
          </a:p>
        </p:txBody>
      </p:sp>
      <p:sp>
        <p:nvSpPr>
          <p:cNvPr id="7" name="Shape 5"/>
          <p:cNvSpPr/>
          <p:nvPr/>
        </p:nvSpPr>
        <p:spPr>
          <a:xfrm>
            <a:off x="4297680" y="1371600"/>
            <a:ext cx="3566160" cy="2834640"/>
          </a:xfrm>
          <a:prstGeom prst="roundRect">
            <a:avLst>
              <a:gd name="adj" fmla="val 4839"/>
            </a:avLst>
          </a:prstGeom>
          <a:solidFill>
            <a:srgbClr val="1E3540"/>
          </a:solidFill>
          <a:ln w="12700">
            <a:solidFill>
              <a:srgbClr val="2F4650"/>
            </a:solidFill>
            <a:prstDash val="solid"/>
          </a:ln>
        </p:spPr>
      </p:sp>
      <p:sp>
        <p:nvSpPr>
          <p:cNvPr id="8" name="Shape 6"/>
          <p:cNvSpPr/>
          <p:nvPr/>
        </p:nvSpPr>
        <p:spPr>
          <a:xfrm>
            <a:off x="4572000" y="1572768"/>
            <a:ext cx="292608" cy="292608"/>
          </a:xfrm>
          <a:prstGeom prst="ellipse">
            <a:avLst/>
          </a:prstGeom>
          <a:solidFill>
            <a:srgbClr val="F2A6A0"/>
          </a:solidFill>
          <a:ln w="12700">
            <a:solidFill>
              <a:srgbClr val="F2A6A0"/>
            </a:solidFill>
            <a:prstDash val="solid"/>
          </a:ln>
        </p:spPr>
      </p:sp>
      <p:sp>
        <p:nvSpPr>
          <p:cNvPr id="9" name="Text 7"/>
          <p:cNvSpPr txBox="1"/>
          <p:nvPr/>
        </p:nvSpPr>
        <p:spPr>
          <a:xfrm>
            <a:off x="5010912" y="1517904"/>
            <a:ext cx="256032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Watch outs</a:t>
            </a:r>
            <a:endParaRPr lang="en-US" sz="2000" dirty="0"/>
          </a:p>
        </p:txBody>
      </p:sp>
      <p:sp>
        <p:nvSpPr>
          <p:cNvPr id="10" name="Text 8"/>
          <p:cNvSpPr txBox="1"/>
          <p:nvPr/>
        </p:nvSpPr>
        <p:spPr>
          <a:xfrm>
            <a:off x="4572000" y="2103120"/>
            <a:ext cx="3063240" cy="20116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Top-1 is harder than the ranked shortlist so the app shows Top-3</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Jewellery and Vehicles are the hardest classes to predict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Trained on synthetic data so validation on real customer histories is next</a:t>
            </a:r>
            <a:endParaRPr lang="en-US" sz="1300" dirty="0"/>
          </a:p>
        </p:txBody>
      </p:sp>
      <p:sp>
        <p:nvSpPr>
          <p:cNvPr id="11" name="Shape 9"/>
          <p:cNvSpPr/>
          <p:nvPr/>
        </p:nvSpPr>
        <p:spPr>
          <a:xfrm>
            <a:off x="8046720" y="1371600"/>
            <a:ext cx="3566160" cy="2834640"/>
          </a:xfrm>
          <a:prstGeom prst="roundRect">
            <a:avLst>
              <a:gd name="adj" fmla="val 4839"/>
            </a:avLst>
          </a:prstGeom>
          <a:solidFill>
            <a:srgbClr val="1E3540"/>
          </a:solidFill>
          <a:ln w="12700">
            <a:solidFill>
              <a:srgbClr val="2F4650"/>
            </a:solidFill>
            <a:prstDash val="solid"/>
          </a:ln>
        </p:spPr>
      </p:sp>
      <p:sp>
        <p:nvSpPr>
          <p:cNvPr id="12" name="Shape 10"/>
          <p:cNvSpPr/>
          <p:nvPr/>
        </p:nvSpPr>
        <p:spPr>
          <a:xfrm>
            <a:off x="8321040" y="1572768"/>
            <a:ext cx="292608" cy="292608"/>
          </a:xfrm>
          <a:prstGeom prst="ellipse">
            <a:avLst/>
          </a:prstGeom>
          <a:solidFill>
            <a:srgbClr val="6FC2B9"/>
          </a:solidFill>
          <a:ln w="12700">
            <a:solidFill>
              <a:srgbClr val="6FC2B9"/>
            </a:solidFill>
            <a:prstDash val="solid"/>
          </a:ln>
        </p:spPr>
      </p:sp>
      <p:sp>
        <p:nvSpPr>
          <p:cNvPr id="13" name="Text 11"/>
          <p:cNvSpPr txBox="1"/>
          <p:nvPr/>
        </p:nvSpPr>
        <p:spPr>
          <a:xfrm>
            <a:off x="8759952" y="1517904"/>
            <a:ext cx="256032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Next steps</a:t>
            </a:r>
            <a:endParaRPr lang="en-US" sz="2000" dirty="0"/>
          </a:p>
        </p:txBody>
      </p:sp>
      <p:sp>
        <p:nvSpPr>
          <p:cNvPr id="14" name="Text 12"/>
          <p:cNvSpPr txBox="1"/>
          <p:nvPr/>
        </p:nvSpPr>
        <p:spPr>
          <a:xfrm>
            <a:off x="8321040" y="2103120"/>
            <a:ext cx="3063240" cy="20116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Validate on real customer histories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Add behavioural features and retrain on a schedule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Repeated grouped cross-validation for tighter estimates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Probability calibration for the ranked shortlist</a:t>
            </a:r>
            <a:endParaRPr lang="en-US" sz="1300" dirty="0"/>
          </a:p>
        </p:txBody>
      </p:sp>
      <p:sp>
        <p:nvSpPr>
          <p:cNvPr id="15" name="Shape 13"/>
          <p:cNvSpPr/>
          <p:nvPr/>
        </p:nvSpPr>
        <p:spPr>
          <a:xfrm>
            <a:off x="548640" y="4343400"/>
            <a:ext cx="11064240" cy="2057400"/>
          </a:xfrm>
          <a:prstGeom prst="roundRect">
            <a:avLst>
              <a:gd name="adj" fmla="val 5333"/>
            </a:avLst>
          </a:prstGeom>
          <a:solidFill>
            <a:srgbClr val="F2F4F0"/>
          </a:solidFill>
          <a:ln w="12700">
            <a:solidFill>
              <a:srgbClr val="D9DFDA"/>
            </a:solidFill>
            <a:prstDash val="solid"/>
          </a:ln>
        </p:spPr>
      </p:sp>
      <p:sp>
        <p:nvSpPr>
          <p:cNvPr id="16" name="Text 14"/>
          <p:cNvSpPr txBox="1"/>
          <p:nvPr/>
        </p:nvSpPr>
        <p:spPr>
          <a:xfrm>
            <a:off x="777240" y="4407408"/>
            <a:ext cx="4937760" cy="32004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Validation lift over the majority baseline</a:t>
            </a:r>
            <a:endParaRPr lang="en-US" sz="1400" dirty="0"/>
          </a:p>
        </p:txBody>
      </p:sp>
      <p:graphicFrame>
        <p:nvGraphicFramePr>
          <p:cNvPr id="17" name="Chart 0" descr=""/>
          <p:cNvGraphicFramePr/>
          <p:nvPr/>
        </p:nvGraphicFramePr>
        <p:xfrm>
          <a:off x="685800" y="4709160"/>
          <a:ext cx="5669280" cy="16916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6583680" y="4526280"/>
            <a:ext cx="1737360" cy="548640"/>
          </a:xfrm>
          <a:prstGeom prst="rect">
            <a:avLst/>
          </a:prstGeom>
          <a:noFill/>
          <a:ln/>
        </p:spPr>
        <p:txBody>
          <a:bodyPr wrap="square" lIns="0" tIns="0" rIns="0" bIns="0" rtlCol="0" anchor="ctr"/>
          <a:lstStyle/>
          <a:p>
            <a:pPr indent="0" marL="0">
              <a:buNone/>
            </a:pPr>
            <a:r>
              <a:rPr lang="en-US" sz="1800" b="1" dirty="0">
                <a:solidFill>
                  <a:srgbClr val="0F6B66"/>
                </a:solidFill>
                <a:latin typeface="Cambria" pitchFamily="34" charset="0"/>
                <a:ea typeface="Cambria" pitchFamily="34" charset="-122"/>
                <a:cs typeface="Cambria" pitchFamily="34" charset="-120"/>
              </a:rPr>
              <a:t>0.06 to 0.37</a:t>
            </a:r>
            <a:endParaRPr lang="en-US" sz="1800" dirty="0"/>
          </a:p>
        </p:txBody>
      </p:sp>
      <p:sp>
        <p:nvSpPr>
          <p:cNvPr id="19" name="Text 16"/>
          <p:cNvSpPr txBox="1"/>
          <p:nvPr/>
        </p:nvSpPr>
        <p:spPr>
          <a:xfrm>
            <a:off x="8321040" y="4526280"/>
            <a:ext cx="3108960" cy="548640"/>
          </a:xfrm>
          <a:prstGeom prst="rect">
            <a:avLst/>
          </a:prstGeom>
          <a:noFill/>
          <a:ln/>
        </p:spPr>
        <p:txBody>
          <a:bodyPr wrap="square" lIns="0" tIns="0" rIns="0" bIns="0" rtlCol="0" anchor="ctr"/>
          <a:lstStyle/>
          <a:p>
            <a:pPr indent="0" marL="0">
              <a:buNone/>
            </a:pPr>
            <a:r>
              <a:rPr lang="en-US" sz="1200" dirty="0">
                <a:solidFill>
                  <a:srgbClr val="5E6E73"/>
                </a:solidFill>
                <a:latin typeface="Calibri" pitchFamily="34" charset="0"/>
                <a:ea typeface="Calibri" pitchFamily="34" charset="-122"/>
                <a:cs typeface="Calibri" pitchFamily="34" charset="-120"/>
              </a:rPr>
              <a:t>Macro F1 from the majority baseline to the tuned Random Forest</a:t>
            </a:r>
            <a:endParaRPr lang="en-US" sz="1200" dirty="0"/>
          </a:p>
        </p:txBody>
      </p:sp>
      <p:sp>
        <p:nvSpPr>
          <p:cNvPr id="20" name="Text 17"/>
          <p:cNvSpPr txBox="1"/>
          <p:nvPr/>
        </p:nvSpPr>
        <p:spPr>
          <a:xfrm>
            <a:off x="6583680" y="5148072"/>
            <a:ext cx="1737360" cy="548640"/>
          </a:xfrm>
          <a:prstGeom prst="rect">
            <a:avLst/>
          </a:prstGeom>
          <a:noFill/>
          <a:ln/>
        </p:spPr>
        <p:txBody>
          <a:bodyPr wrap="square" lIns="0" tIns="0" rIns="0" bIns="0" rtlCol="0" anchor="ctr"/>
          <a:lstStyle/>
          <a:p>
            <a:pPr indent="0" marL="0">
              <a:buNone/>
            </a:pPr>
            <a:r>
              <a:rPr lang="en-US" sz="1800" b="1" dirty="0">
                <a:solidFill>
                  <a:srgbClr val="0F6B66"/>
                </a:solidFill>
                <a:latin typeface="Cambria" pitchFamily="34" charset="0"/>
                <a:ea typeface="Cambria" pitchFamily="34" charset="-122"/>
                <a:cs typeface="Cambria" pitchFamily="34" charset="-120"/>
              </a:rPr>
              <a:t>+0.04</a:t>
            </a:r>
            <a:endParaRPr lang="en-US" sz="1800" dirty="0"/>
          </a:p>
        </p:txBody>
      </p:sp>
      <p:sp>
        <p:nvSpPr>
          <p:cNvPr id="21" name="Text 18"/>
          <p:cNvSpPr txBox="1"/>
          <p:nvPr/>
        </p:nvSpPr>
        <p:spPr>
          <a:xfrm>
            <a:off x="8321040" y="5148072"/>
            <a:ext cx="3108960" cy="548640"/>
          </a:xfrm>
          <a:prstGeom prst="rect">
            <a:avLst/>
          </a:prstGeom>
          <a:noFill/>
          <a:ln/>
        </p:spPr>
        <p:txBody>
          <a:bodyPr wrap="square" lIns="0" tIns="0" rIns="0" bIns="0" rtlCol="0" anchor="ctr"/>
          <a:lstStyle/>
          <a:p>
            <a:pPr indent="0" marL="0">
              <a:buNone/>
            </a:pPr>
            <a:r>
              <a:rPr lang="en-US" sz="1200" dirty="0">
                <a:solidFill>
                  <a:srgbClr val="5E6E73"/>
                </a:solidFill>
                <a:latin typeface="Calibri" pitchFamily="34" charset="0"/>
                <a:ea typeface="Calibri" pitchFamily="34" charset="-122"/>
                <a:cs typeface="Calibri" pitchFamily="34" charset="-120"/>
              </a:rPr>
              <a:t>Macro F1 gained from myVal AI features in the ablation</a:t>
            </a:r>
            <a:endParaRPr lang="en-US" sz="1200" dirty="0"/>
          </a:p>
        </p:txBody>
      </p:sp>
      <p:sp>
        <p:nvSpPr>
          <p:cNvPr id="22" name="Text 19"/>
          <p:cNvSpPr txBox="1"/>
          <p:nvPr/>
        </p:nvSpPr>
        <p:spPr>
          <a:xfrm>
            <a:off x="6583680" y="5769864"/>
            <a:ext cx="1737360" cy="548640"/>
          </a:xfrm>
          <a:prstGeom prst="rect">
            <a:avLst/>
          </a:prstGeom>
          <a:noFill/>
          <a:ln/>
        </p:spPr>
        <p:txBody>
          <a:bodyPr wrap="square" lIns="0" tIns="0" rIns="0" bIns="0" rtlCol="0" anchor="ctr"/>
          <a:lstStyle/>
          <a:p>
            <a:pPr indent="0" marL="0">
              <a:buNone/>
            </a:pPr>
            <a:r>
              <a:rPr lang="en-US" sz="1800" b="1" dirty="0">
                <a:solidFill>
                  <a:srgbClr val="0F6B66"/>
                </a:solidFill>
                <a:latin typeface="Cambria" pitchFamily="34" charset="0"/>
                <a:ea typeface="Cambria" pitchFamily="34" charset="-122"/>
                <a:cs typeface="Cambria" pitchFamily="34" charset="-120"/>
              </a:rPr>
              <a:t>100%</a:t>
            </a:r>
            <a:endParaRPr lang="en-US" sz="1800" dirty="0"/>
          </a:p>
        </p:txBody>
      </p:sp>
      <p:sp>
        <p:nvSpPr>
          <p:cNvPr id="23" name="Text 20"/>
          <p:cNvSpPr txBox="1"/>
          <p:nvPr/>
        </p:nvSpPr>
        <p:spPr>
          <a:xfrm>
            <a:off x="8321040" y="5769864"/>
            <a:ext cx="3108960" cy="548640"/>
          </a:xfrm>
          <a:prstGeom prst="rect">
            <a:avLst/>
          </a:prstGeom>
          <a:noFill/>
          <a:ln/>
        </p:spPr>
        <p:txBody>
          <a:bodyPr wrap="square" lIns="0" tIns="0" rIns="0" bIns="0" rtlCol="0" anchor="ctr"/>
          <a:lstStyle/>
          <a:p>
            <a:pPr indent="0" marL="0">
              <a:buNone/>
            </a:pPr>
            <a:r>
              <a:rPr lang="en-US" sz="1200" dirty="0">
                <a:solidFill>
                  <a:srgbClr val="5E6E73"/>
                </a:solidFill>
                <a:latin typeface="Calibri" pitchFamily="34" charset="0"/>
                <a:ea typeface="Calibri" pitchFamily="34" charset="-122"/>
                <a:cs typeface="Calibri" pitchFamily="34" charset="-120"/>
              </a:rPr>
              <a:t>Electronics recall on the holdout</a:t>
            </a:r>
            <a:endParaRPr lang="en-US" sz="1200" dirty="0"/>
          </a:p>
        </p:txBody>
      </p:sp>
      <p:sp>
        <p:nvSpPr>
          <p:cNvPr id="24" name="Text 21"/>
          <p:cNvSpPr txBox="1"/>
          <p:nvPr/>
        </p:nvSpPr>
        <p:spPr>
          <a:xfrm>
            <a:off x="10881360" y="6400800"/>
            <a:ext cx="731520" cy="274320"/>
          </a:xfrm>
          <a:prstGeom prst="rect">
            <a:avLst/>
          </a:prstGeom>
          <a:noFill/>
          <a:ln/>
        </p:spPr>
        <p:txBody>
          <a:bodyPr wrap="square" lIns="0" tIns="0" rIns="0" bIns="0" rtlCol="0" anchor="ctr"/>
          <a:lstStyle/>
          <a:p>
            <a:pPr algn="r" indent="0" marL="0">
              <a:buNone/>
            </a:pPr>
            <a:r>
              <a:rPr lang="en-US" sz="1100" dirty="0">
                <a:solidFill>
                  <a:srgbClr val="A9BDBB"/>
                </a:solidFill>
                <a:latin typeface="Calibri" pitchFamily="34" charset="0"/>
                <a:ea typeface="Calibri" pitchFamily="34" charset="-122"/>
                <a:cs typeface="Calibri" pitchFamily="34" charset="-120"/>
              </a:rPr>
              <a:t>5 / 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myVal Next-Category Recommender</dc:title>
  <dc:subject>PptxGenJS Presentation</dc:subject>
  <dc:creator>PptxGenJS</dc:creator>
  <cp:lastModifiedBy>PptxGenJS</cp:lastModifiedBy>
  <cp:revision>1</cp:revision>
  <dcterms:created xsi:type="dcterms:W3CDTF">2026-09-30T09:28:33Z</dcterms:created>
  <dcterms:modified xsi:type="dcterms:W3CDTF">2026-09-30T09:28:33Z</dcterms:modified>
</cp:coreProperties>
</file>